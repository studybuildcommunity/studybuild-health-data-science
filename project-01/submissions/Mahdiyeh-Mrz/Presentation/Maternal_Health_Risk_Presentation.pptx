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72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F2A20"/>
                </a:solidFill>
                <a:latin typeface="Cambria"/>
              </a:defRPr>
            </a:pPr>
            <a:r>
              <a:rPr sz="1500" b="0" i="0" u="none" strike="noStrike">
                <a:solidFill>
                  <a:srgbClr val="0F2A20"/>
                </a:solidFill>
                <a:latin typeface="Cambria"/>
              </a:rPr>
              <a:t>Metric-by-Metric Comparison</a:t>
            </a:r>
          </a:p>
        </c:rich>
      </c:tx>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9CA9A2"/>
            </a:solidFill>
            <a:effectLst/>
          </c:spPr>
          <c:invertIfNegative val="0"/>
          <c:dLbls>
            <c:numFmt formatCode="0.000" sourceLinked="0"/>
            <c:spPr>
              <a:noFill/>
              <a:ln>
                <a:noFill/>
              </a:ln>
              <a:effectLst/>
            </c:spPr>
            <c:txPr>
              <a:bodyPr/>
              <a:lstStyle/>
              <a:p>
                <a:pPr>
                  <a:defRPr sz="1000" b="0" i="0" u="none" strike="noStrike">
                    <a:solidFill>
                      <a:srgbClr val="0F2A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Macro F1</c:v>
                </c:pt>
                <c:pt idx="2">
                  <c:v>High Recall</c:v>
                </c:pt>
                <c:pt idx="3">
                  <c:v>High Precision</c:v>
                </c:pt>
              </c:strCache>
            </c:strRef>
          </c:cat>
          <c:val>
            <c:numRef>
              <c:f>Sheet1!$B$2:$B$5</c:f>
              <c:numCache>
                <c:formatCode>General</c:formatCode>
                <c:ptCount val="4"/>
                <c:pt idx="0">
                  <c:v>0.58599999999999997</c:v>
                </c:pt>
                <c:pt idx="1">
                  <c:v>0.58399999999999996</c:v>
                </c:pt>
                <c:pt idx="2">
                  <c:v>0.78200000000000003</c:v>
                </c:pt>
                <c:pt idx="3">
                  <c:v>0.76800000000000002</c:v>
                </c:pt>
              </c:numCache>
            </c:numRef>
          </c:val>
          <c:extLst>
            <c:ext xmlns:c16="http://schemas.microsoft.com/office/drawing/2014/chart" uri="{C3380CC4-5D6E-409C-BE32-E72D297353CC}">
              <c16:uniqueId val="{00000000-527B-43FA-B652-29505A75FC79}"/>
            </c:ext>
          </c:extLst>
        </c:ser>
        <c:ser>
          <c:idx val="1"/>
          <c:order val="1"/>
          <c:tx>
            <c:strRef>
              <c:f>Sheet1!$C$1</c:f>
              <c:strCache>
                <c:ptCount val="1"/>
                <c:pt idx="0">
                  <c:v>Decision Tree</c:v>
                </c:pt>
              </c:strCache>
            </c:strRef>
          </c:tx>
          <c:spPr>
            <a:solidFill>
              <a:srgbClr val="047857"/>
            </a:solidFill>
            <a:effectLst/>
          </c:spPr>
          <c:invertIfNegative val="0"/>
          <c:dLbls>
            <c:numFmt formatCode="0.000" sourceLinked="0"/>
            <c:spPr>
              <a:noFill/>
              <a:ln>
                <a:noFill/>
              </a:ln>
              <a:effectLst/>
            </c:spPr>
            <c:txPr>
              <a:bodyPr/>
              <a:lstStyle/>
              <a:p>
                <a:pPr>
                  <a:defRPr sz="1000" b="0" i="0" u="none" strike="noStrike">
                    <a:solidFill>
                      <a:srgbClr val="0F2A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Macro F1</c:v>
                </c:pt>
                <c:pt idx="2">
                  <c:v>High Recall</c:v>
                </c:pt>
                <c:pt idx="3">
                  <c:v>High Precision</c:v>
                </c:pt>
              </c:strCache>
            </c:strRef>
          </c:cat>
          <c:val>
            <c:numRef>
              <c:f>Sheet1!$C$2:$C$5</c:f>
              <c:numCache>
                <c:formatCode>General</c:formatCode>
                <c:ptCount val="4"/>
                <c:pt idx="0">
                  <c:v>0.68</c:v>
                </c:pt>
                <c:pt idx="1">
                  <c:v>0.67</c:v>
                </c:pt>
                <c:pt idx="2">
                  <c:v>0.83599999999999997</c:v>
                </c:pt>
                <c:pt idx="3">
                  <c:v>0.92</c:v>
                </c:pt>
              </c:numCache>
            </c:numRef>
          </c:val>
          <c:extLst>
            <c:ext xmlns:c16="http://schemas.microsoft.com/office/drawing/2014/chart" uri="{C3380CC4-5D6E-409C-BE32-E72D297353CC}">
              <c16:uniqueId val="{00000001-527B-43FA-B652-29505A75FC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54C"/>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12700" cap="flat">
              <a:solidFill>
                <a:srgbClr val="EEF3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54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4554C"/>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0048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327"/>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754880" cy="4754880"/>
          </a:xfrm>
          <a:prstGeom prst="ellipse">
            <a:avLst/>
          </a:prstGeom>
          <a:solidFill>
            <a:srgbClr val="0F4632"/>
          </a:solidFill>
          <a:ln/>
        </p:spPr>
      </p:sp>
      <p:sp>
        <p:nvSpPr>
          <p:cNvPr id="3" name="Shape 1"/>
          <p:cNvSpPr/>
          <p:nvPr/>
        </p:nvSpPr>
        <p:spPr>
          <a:xfrm>
            <a:off x="-1828800" y="4389120"/>
            <a:ext cx="4206240" cy="4206240"/>
          </a:xfrm>
          <a:prstGeom prst="ellipse">
            <a:avLst/>
          </a:prstGeom>
          <a:solidFill>
            <a:srgbClr val="0F4632"/>
          </a:solidFill>
          <a:ln/>
        </p:spPr>
      </p:sp>
      <p:sp>
        <p:nvSpPr>
          <p:cNvPr id="4" name="Shape 2"/>
          <p:cNvSpPr/>
          <p:nvPr/>
        </p:nvSpPr>
        <p:spPr>
          <a:xfrm>
            <a:off x="10607040" y="5120640"/>
            <a:ext cx="2377440" cy="2377440"/>
          </a:xfrm>
          <a:prstGeom prst="ellipse">
            <a:avLst/>
          </a:prstGeom>
          <a:solidFill>
            <a:srgbClr val="047857">
              <a:alpha val="45000"/>
            </a:srgbClr>
          </a:solidFill>
          <a:ln/>
        </p:spPr>
      </p:sp>
      <p:sp>
        <p:nvSpPr>
          <p:cNvPr id="5" name="Text 3"/>
          <p:cNvSpPr txBox="1"/>
          <p:nvPr/>
        </p:nvSpPr>
        <p:spPr>
          <a:xfrm>
            <a:off x="822960" y="1417320"/>
            <a:ext cx="9144000" cy="365760"/>
          </a:xfrm>
          <a:prstGeom prst="rect">
            <a:avLst/>
          </a:prstGeom>
          <a:noFill/>
          <a:ln/>
        </p:spPr>
        <p:txBody>
          <a:bodyPr wrap="square" lIns="0" tIns="0" rIns="0" bIns="0" rtlCol="0" anchor="ctr"/>
          <a:lstStyle/>
          <a:p>
            <a:pPr marL="0" indent="0">
              <a:buNone/>
            </a:pPr>
            <a:r>
              <a:rPr lang="en-US" sz="1350" b="1" kern="0" spc="300" dirty="0">
                <a:solidFill>
                  <a:srgbClr val="C9972C"/>
                </a:solidFill>
                <a:latin typeface="Calibri" pitchFamily="34" charset="0"/>
                <a:ea typeface="Calibri" pitchFamily="34" charset="-122"/>
                <a:cs typeface="Calibri" pitchFamily="34" charset="-120"/>
              </a:rPr>
              <a:t>HEALTH &amp; MEDICAL DATA SCIENCE PROJECT</a:t>
            </a:r>
            <a:endParaRPr lang="en-US" sz="1350" dirty="0"/>
          </a:p>
        </p:txBody>
      </p:sp>
      <p:sp>
        <p:nvSpPr>
          <p:cNvPr id="6" name="Text 4"/>
          <p:cNvSpPr txBox="1"/>
          <p:nvPr/>
        </p:nvSpPr>
        <p:spPr>
          <a:xfrm>
            <a:off x="777240" y="1874520"/>
            <a:ext cx="9875520" cy="1920240"/>
          </a:xfrm>
          <a:prstGeom prst="rect">
            <a:avLst/>
          </a:prstGeom>
          <a:noFill/>
          <a:ln/>
        </p:spPr>
        <p:txBody>
          <a:bodyPr wrap="square" lIns="0" tIns="0" rIns="0" bIns="0" rtlCol="0" anchor="ctr"/>
          <a:lstStyle/>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Maternal Health Risk</a:t>
            </a:r>
            <a:endParaRPr lang="en-US" sz="4600" dirty="0"/>
          </a:p>
          <a:p>
            <a:pPr marL="0" indent="0">
              <a:lnSpc>
                <a:spcPct val="105000"/>
              </a:lnSpc>
              <a:buNone/>
            </a:pPr>
            <a:r>
              <a:rPr lang="en-US" sz="4600" b="1" dirty="0">
                <a:solidFill>
                  <a:srgbClr val="FFFFFF"/>
                </a:solidFill>
                <a:latin typeface="Cambria" pitchFamily="34" charset="0"/>
                <a:ea typeface="Cambria" pitchFamily="34" charset="-122"/>
                <a:cs typeface="Cambria" pitchFamily="34" charset="-120"/>
              </a:rPr>
              <a:t>Stratification</a:t>
            </a:r>
            <a:endParaRPr lang="en-US" sz="4600" dirty="0"/>
          </a:p>
        </p:txBody>
      </p:sp>
      <p:sp>
        <p:nvSpPr>
          <p:cNvPr id="7" name="Text 5"/>
          <p:cNvSpPr txBox="1"/>
          <p:nvPr/>
        </p:nvSpPr>
        <p:spPr>
          <a:xfrm>
            <a:off x="822960" y="3703320"/>
            <a:ext cx="8961120" cy="822960"/>
          </a:xfrm>
          <a:prstGeom prst="rect">
            <a:avLst/>
          </a:prstGeom>
          <a:noFill/>
          <a:ln/>
        </p:spPr>
        <p:txBody>
          <a:bodyPr wrap="square" lIns="0" tIns="0" rIns="0" bIns="0" rtlCol="0" anchor="ctr"/>
          <a:lstStyle/>
          <a:p>
            <a:pPr marL="0" indent="0">
              <a:lnSpc>
                <a:spcPct val="115000"/>
              </a:lnSpc>
              <a:buNone/>
            </a:pPr>
            <a:r>
              <a:rPr lang="en-US" sz="1550" i="1" dirty="0">
                <a:solidFill>
                  <a:srgbClr val="D1FAE5"/>
                </a:solidFill>
                <a:latin typeface="Calibri" pitchFamily="34" charset="0"/>
                <a:ea typeface="Calibri" pitchFamily="34" charset="-122"/>
                <a:cs typeface="Calibri" pitchFamily="34" charset="-120"/>
              </a:rPr>
              <a:t>Statistical Analysis, Exploratory Data Analysis, and</a:t>
            </a:r>
            <a:endParaRPr lang="en-US" sz="1550" dirty="0"/>
          </a:p>
          <a:p>
            <a:pPr marL="0" indent="0">
              <a:lnSpc>
                <a:spcPct val="115000"/>
              </a:lnSpc>
              <a:buNone/>
            </a:pPr>
            <a:r>
              <a:rPr lang="en-US" sz="1550" i="1" dirty="0">
                <a:solidFill>
                  <a:srgbClr val="D1FAE5"/>
                </a:solidFill>
                <a:latin typeface="Calibri" pitchFamily="34" charset="0"/>
                <a:ea typeface="Calibri" pitchFamily="34" charset="-122"/>
                <a:cs typeface="Calibri" pitchFamily="34" charset="-120"/>
              </a:rPr>
              <a:t>Interpretable Machine Learning on the UCI Maternal Health Risk Dataset</a:t>
            </a:r>
            <a:endParaRPr lang="en-US" sz="1550" dirty="0"/>
          </a:p>
        </p:txBody>
      </p:sp>
      <p:sp>
        <p:nvSpPr>
          <p:cNvPr id="8" name="Shape 6"/>
          <p:cNvSpPr/>
          <p:nvPr/>
        </p:nvSpPr>
        <p:spPr>
          <a:xfrm>
            <a:off x="841248" y="4709160"/>
            <a:ext cx="2011680" cy="0"/>
          </a:xfrm>
          <a:prstGeom prst="line">
            <a:avLst/>
          </a:prstGeom>
          <a:noFill/>
          <a:ln w="25400">
            <a:solidFill>
              <a:srgbClr val="C9972C"/>
            </a:solidFill>
            <a:prstDash val="solid"/>
          </a:ln>
        </p:spPr>
      </p:sp>
      <p:sp>
        <p:nvSpPr>
          <p:cNvPr id="9" name="Text 7"/>
          <p:cNvSpPr txBox="1"/>
          <p:nvPr/>
        </p:nvSpPr>
        <p:spPr>
          <a:xfrm>
            <a:off x="822960" y="4892040"/>
            <a:ext cx="731520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Mahdiyeh Mirzaei</a:t>
            </a:r>
            <a:endParaRPr lang="en-US" sz="2000" dirty="0"/>
          </a:p>
        </p:txBody>
      </p:sp>
      <p:sp>
        <p:nvSpPr>
          <p:cNvPr id="10" name="Text 8"/>
          <p:cNvSpPr txBox="1"/>
          <p:nvPr/>
        </p:nvSpPr>
        <p:spPr>
          <a:xfrm>
            <a:off x="822960" y="5321808"/>
            <a:ext cx="7315200" cy="320040"/>
          </a:xfrm>
          <a:prstGeom prst="rect">
            <a:avLst/>
          </a:prstGeom>
          <a:noFill/>
          <a:ln/>
        </p:spPr>
        <p:txBody>
          <a:bodyPr wrap="square" lIns="0" tIns="0" rIns="0" bIns="0" rtlCol="0" anchor="ctr"/>
          <a:lstStyle/>
          <a:p>
            <a:pPr marL="0" indent="0">
              <a:buNone/>
            </a:pPr>
            <a:r>
              <a:rPr lang="en-US" sz="1350" dirty="0">
                <a:solidFill>
                  <a:srgbClr val="10B981"/>
                </a:solidFill>
                <a:latin typeface="Calibri" pitchFamily="34" charset="0"/>
                <a:ea typeface="Calibri" pitchFamily="34" charset="-122"/>
                <a:cs typeface="Calibri" pitchFamily="34" charset="-120"/>
              </a:rPr>
              <a:t>github.com/mahdiyeh-mirzaei-v2</a:t>
            </a:r>
            <a:endParaRPr lang="en-US" sz="1350" dirty="0"/>
          </a:p>
        </p:txBody>
      </p:sp>
      <p:sp>
        <p:nvSpPr>
          <p:cNvPr id="11" name="Text 9"/>
          <p:cNvSpPr txBox="1"/>
          <p:nvPr/>
        </p:nvSpPr>
        <p:spPr>
          <a:xfrm>
            <a:off x="822960" y="5943600"/>
            <a:ext cx="5486400" cy="320040"/>
          </a:xfrm>
          <a:prstGeom prst="rect">
            <a:avLst/>
          </a:prstGeom>
          <a:noFill/>
          <a:ln/>
        </p:spPr>
        <p:txBody>
          <a:bodyPr wrap="square" lIns="0" tIns="0" rIns="0" bIns="0" rtlCol="0" anchor="ctr"/>
          <a:lstStyle/>
          <a:p>
            <a:pPr marL="0" indent="0">
              <a:buNone/>
            </a:pPr>
            <a:r>
              <a:rPr lang="en-US" sz="1150" dirty="0">
                <a:solidFill>
                  <a:srgbClr val="89A99A"/>
                </a:solidFill>
                <a:latin typeface="Calibri" pitchFamily="34" charset="0"/>
                <a:ea typeface="Calibri" pitchFamily="34" charset="-122"/>
                <a:cs typeface="Calibri" pitchFamily="34" charset="-120"/>
              </a:rPr>
              <a:t>September 2026</a:t>
            </a:r>
            <a:endParaRPr lang="en-US" sz="1150" dirty="0"/>
          </a:p>
        </p:txBody>
      </p:sp>
      <p:sp>
        <p:nvSpPr>
          <p:cNvPr id="12" name="Text 10"/>
          <p:cNvSpPr txBox="1"/>
          <p:nvPr/>
        </p:nvSpPr>
        <p:spPr>
          <a:xfrm>
            <a:off x="822960" y="6263640"/>
            <a:ext cx="7315200" cy="274320"/>
          </a:xfrm>
          <a:prstGeom prst="rect">
            <a:avLst/>
          </a:prstGeom>
          <a:noFill/>
          <a:ln/>
        </p:spPr>
        <p:txBody>
          <a:bodyPr wrap="square" lIns="0" tIns="0" rIns="0" bIns="0" rtlCol="0" anchor="ctr"/>
          <a:lstStyle/>
          <a:p>
            <a:pPr marL="0" indent="0">
              <a:buNone/>
            </a:pPr>
            <a:r>
              <a:rPr lang="en-US" sz="1050" dirty="0">
                <a:solidFill>
                  <a:srgbClr val="6E9284"/>
                </a:solidFill>
                <a:latin typeface="Calibri" pitchFamily="34" charset="0"/>
                <a:ea typeface="Calibri" pitchFamily="34" charset="-122"/>
                <a:cs typeface="Calibri" pitchFamily="34" charset="-120"/>
              </a:rPr>
              <a:t>n = 1,012 patients   ·   Python · SQL · scikit-learn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0A3327"/>
          </a:solidFill>
          <a:ln/>
        </p:spPr>
      </p:sp>
      <p:sp>
        <p:nvSpPr>
          <p:cNvPr id="3" name="Shape 1"/>
          <p:cNvSpPr/>
          <p:nvPr/>
        </p:nvSpPr>
        <p:spPr>
          <a:xfrm>
            <a:off x="-1463040" y="5120640"/>
            <a:ext cx="3657600" cy="3657600"/>
          </a:xfrm>
          <a:prstGeom prst="ellipse">
            <a:avLst/>
          </a:prstGeom>
          <a:solidFill>
            <a:srgbClr val="0F4632"/>
          </a:solidFill>
          <a:ln/>
        </p:spPr>
      </p:sp>
      <p:sp>
        <p:nvSpPr>
          <p:cNvPr id="4" name="Text 2"/>
          <p:cNvSpPr/>
          <p:nvPr/>
        </p:nvSpPr>
        <p:spPr>
          <a:xfrm>
            <a:off x="502920" y="640080"/>
            <a:ext cx="3108960" cy="365760"/>
          </a:xfrm>
          <a:prstGeom prst="rect">
            <a:avLst/>
          </a:prstGeom>
          <a:noFill/>
          <a:ln/>
        </p:spPr>
        <p:txBody>
          <a:bodyPr wrap="square" lIns="0" tIns="0" rIns="0" bIns="0" rtlCol="0" anchor="ctr"/>
          <a:lstStyle/>
          <a:p>
            <a:pPr marL="0" indent="0">
              <a:buNone/>
            </a:pPr>
            <a:r>
              <a:rPr lang="en-US" sz="1300" b="1" kern="0" spc="300" dirty="0">
                <a:solidFill>
                  <a:srgbClr val="C9972C"/>
                </a:solidFill>
                <a:latin typeface="Calibri" pitchFamily="34" charset="0"/>
                <a:ea typeface="Calibri" pitchFamily="34" charset="-122"/>
                <a:cs typeface="Calibri" pitchFamily="34" charset="-120"/>
              </a:rPr>
              <a:t>AGENDA</a:t>
            </a:r>
            <a:endParaRPr lang="en-US" sz="1300" dirty="0"/>
          </a:p>
        </p:txBody>
      </p:sp>
      <p:sp>
        <p:nvSpPr>
          <p:cNvPr id="5" name="Text 3"/>
          <p:cNvSpPr/>
          <p:nvPr/>
        </p:nvSpPr>
        <p:spPr>
          <a:xfrm>
            <a:off x="502920" y="1051560"/>
            <a:ext cx="3200400" cy="1463040"/>
          </a:xfrm>
          <a:prstGeom prst="rect">
            <a:avLst/>
          </a:prstGeom>
          <a:noFill/>
          <a:ln/>
        </p:spPr>
        <p:txBody>
          <a:bodyPr wrap="square" lIns="0" tIns="0" rIns="0" bIns="0" rtlCol="0" anchor="ctr"/>
          <a:lstStyle/>
          <a:p>
            <a:pPr marL="0" indent="0">
              <a:lnSpc>
                <a:spcPct val="105000"/>
              </a:lnSpc>
              <a:buNone/>
            </a:pPr>
            <a:r>
              <a:rPr lang="en-US" sz="3200" b="1" dirty="0">
                <a:solidFill>
                  <a:srgbClr val="FFFFFF"/>
                </a:solidFill>
                <a:latin typeface="Cambria" pitchFamily="34" charset="0"/>
                <a:ea typeface="Cambria" pitchFamily="34" charset="-122"/>
                <a:cs typeface="Cambria" pitchFamily="34" charset="-120"/>
              </a:rPr>
              <a:t>What we'll</a:t>
            </a:r>
            <a:endParaRPr lang="en-US" sz="3200" dirty="0"/>
          </a:p>
          <a:p>
            <a:pPr marL="0" indent="0">
              <a:lnSpc>
                <a:spcPct val="105000"/>
              </a:lnSpc>
              <a:buNone/>
            </a:pPr>
            <a:r>
              <a:rPr lang="en-US" sz="3200" b="1" dirty="0">
                <a:solidFill>
                  <a:srgbClr val="FFFFFF"/>
                </a:solidFill>
                <a:latin typeface="Cambria" pitchFamily="34" charset="0"/>
                <a:ea typeface="Cambria" pitchFamily="34" charset="-122"/>
                <a:cs typeface="Cambria" pitchFamily="34" charset="-120"/>
              </a:rPr>
              <a:t>cover</a:t>
            </a:r>
            <a:endParaRPr lang="en-US" sz="3200" dirty="0"/>
          </a:p>
        </p:txBody>
      </p:sp>
      <p:sp>
        <p:nvSpPr>
          <p:cNvPr id="6" name="Text 4"/>
          <p:cNvSpPr/>
          <p:nvPr/>
        </p:nvSpPr>
        <p:spPr>
          <a:xfrm>
            <a:off x="502920" y="2606040"/>
            <a:ext cx="3200400" cy="1097280"/>
          </a:xfrm>
          <a:prstGeom prst="rect">
            <a:avLst/>
          </a:prstGeom>
          <a:noFill/>
          <a:ln/>
        </p:spPr>
        <p:txBody>
          <a:bodyPr wrap="square" lIns="0" tIns="0" rIns="0" bIns="0" rtlCol="0" anchor="ctr"/>
          <a:lstStyle/>
          <a:p>
            <a:pPr marL="0" indent="0">
              <a:lnSpc>
                <a:spcPct val="125000"/>
              </a:lnSpc>
              <a:buNone/>
            </a:pPr>
            <a:r>
              <a:rPr lang="en-US" sz="1250" i="1" dirty="0">
                <a:solidFill>
                  <a:srgbClr val="D1FAE5"/>
                </a:solidFill>
                <a:latin typeface="Calibri" pitchFamily="34" charset="0"/>
                <a:ea typeface="Calibri" pitchFamily="34" charset="-122"/>
                <a:cs typeface="Calibri" pitchFamily="34" charset="-120"/>
              </a:rPr>
              <a:t>A reproducible workflow from raw sensor data to an interpretable screening model.</a:t>
            </a:r>
            <a:endParaRPr lang="en-US" sz="1250" dirty="0"/>
          </a:p>
        </p:txBody>
      </p:sp>
      <p:sp>
        <p:nvSpPr>
          <p:cNvPr id="7" name="Text 5"/>
          <p:cNvSpPr/>
          <p:nvPr/>
        </p:nvSpPr>
        <p:spPr>
          <a:xfrm>
            <a:off x="4343400" y="566928"/>
            <a:ext cx="731520" cy="822960"/>
          </a:xfrm>
          <a:prstGeom prst="rect">
            <a:avLst/>
          </a:prstGeom>
          <a:noFill/>
          <a:ln/>
        </p:spPr>
        <p:txBody>
          <a:bodyPr wrap="square" lIns="0" tIns="0" rIns="0" bIns="0" rtlCol="0" anchor="ctr"/>
          <a:lstStyle/>
          <a:p>
            <a:pPr marL="0" indent="0">
              <a:buNone/>
            </a:pPr>
            <a:r>
              <a:rPr lang="en-US" sz="2400" b="1" dirty="0">
                <a:solidFill>
                  <a:srgbClr val="047857"/>
                </a:solidFill>
                <a:latin typeface="Cambria" pitchFamily="34" charset="0"/>
                <a:ea typeface="Cambria" pitchFamily="34" charset="-122"/>
                <a:cs typeface="Cambria" pitchFamily="34" charset="-120"/>
              </a:rPr>
              <a:t>01</a:t>
            </a:r>
            <a:endParaRPr lang="en-US" sz="2400" dirty="0"/>
          </a:p>
        </p:txBody>
      </p:sp>
      <p:sp>
        <p:nvSpPr>
          <p:cNvPr id="8" name="Text 6"/>
          <p:cNvSpPr/>
          <p:nvPr/>
        </p:nvSpPr>
        <p:spPr>
          <a:xfrm>
            <a:off x="5074920" y="585216"/>
            <a:ext cx="621792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Introduction &amp; Data</a:t>
            </a:r>
            <a:endParaRPr lang="en-US" sz="1650" dirty="0"/>
          </a:p>
        </p:txBody>
      </p:sp>
      <p:sp>
        <p:nvSpPr>
          <p:cNvPr id="9" name="Text 7"/>
          <p:cNvSpPr/>
          <p:nvPr/>
        </p:nvSpPr>
        <p:spPr>
          <a:xfrm>
            <a:off x="5074920" y="950976"/>
            <a:ext cx="6400800" cy="365760"/>
          </a:xfrm>
          <a:prstGeom prst="rect">
            <a:avLst/>
          </a:prstGeom>
          <a:noFill/>
          <a:ln/>
        </p:spPr>
        <p:txBody>
          <a:bodyPr wrap="square" lIns="0" tIns="0" rIns="0" bIns="0" rtlCol="0" anchor="ctr"/>
          <a:lstStyle/>
          <a:p>
            <a:pPr marL="0" indent="0">
              <a:buNone/>
            </a:pPr>
            <a:r>
              <a:rPr lang="en-US" sz="1150" dirty="0">
                <a:solidFill>
                  <a:srgbClr val="44554C"/>
                </a:solidFill>
                <a:latin typeface="Calibri" pitchFamily="34" charset="0"/>
                <a:ea typeface="Calibri" pitchFamily="34" charset="-122"/>
                <a:cs typeface="Calibri" pitchFamily="34" charset="-120"/>
              </a:rPr>
              <a:t>Research question, source, and cleaning decisions</a:t>
            </a:r>
            <a:endParaRPr lang="en-US" sz="1150" dirty="0"/>
          </a:p>
        </p:txBody>
      </p:sp>
      <p:sp>
        <p:nvSpPr>
          <p:cNvPr id="10" name="Shape 8"/>
          <p:cNvSpPr/>
          <p:nvPr/>
        </p:nvSpPr>
        <p:spPr>
          <a:xfrm>
            <a:off x="4343400" y="1463040"/>
            <a:ext cx="7223760" cy="0"/>
          </a:xfrm>
          <a:prstGeom prst="line">
            <a:avLst/>
          </a:prstGeom>
          <a:noFill/>
          <a:ln w="12700">
            <a:solidFill>
              <a:srgbClr val="E4EEE9"/>
            </a:solidFill>
            <a:prstDash val="solid"/>
          </a:ln>
        </p:spPr>
      </p:sp>
      <p:sp>
        <p:nvSpPr>
          <p:cNvPr id="11" name="Text 9"/>
          <p:cNvSpPr/>
          <p:nvPr/>
        </p:nvSpPr>
        <p:spPr>
          <a:xfrm>
            <a:off x="4343400" y="1581912"/>
            <a:ext cx="731520" cy="822960"/>
          </a:xfrm>
          <a:prstGeom prst="rect">
            <a:avLst/>
          </a:prstGeom>
          <a:noFill/>
          <a:ln/>
        </p:spPr>
        <p:txBody>
          <a:bodyPr wrap="square" lIns="0" tIns="0" rIns="0" bIns="0" rtlCol="0" anchor="ctr"/>
          <a:lstStyle/>
          <a:p>
            <a:pPr marL="0" indent="0">
              <a:buNone/>
            </a:pPr>
            <a:r>
              <a:rPr lang="en-US" sz="2400" b="1" dirty="0">
                <a:solidFill>
                  <a:srgbClr val="047857"/>
                </a:solidFill>
                <a:latin typeface="Cambria" pitchFamily="34" charset="0"/>
                <a:ea typeface="Cambria" pitchFamily="34" charset="-122"/>
                <a:cs typeface="Cambria" pitchFamily="34" charset="-120"/>
              </a:rPr>
              <a:t>02</a:t>
            </a:r>
            <a:endParaRPr lang="en-US" sz="2400" dirty="0"/>
          </a:p>
        </p:txBody>
      </p:sp>
      <p:sp>
        <p:nvSpPr>
          <p:cNvPr id="12" name="Text 10"/>
          <p:cNvSpPr/>
          <p:nvPr/>
        </p:nvSpPr>
        <p:spPr>
          <a:xfrm>
            <a:off x="5074920" y="1600200"/>
            <a:ext cx="621792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Exploratory Analysis</a:t>
            </a:r>
            <a:endParaRPr lang="en-US" sz="1650" dirty="0"/>
          </a:p>
        </p:txBody>
      </p:sp>
      <p:sp>
        <p:nvSpPr>
          <p:cNvPr id="13" name="Text 11"/>
          <p:cNvSpPr/>
          <p:nvPr/>
        </p:nvSpPr>
        <p:spPr>
          <a:xfrm>
            <a:off x="5074920" y="1965960"/>
            <a:ext cx="6400800" cy="365760"/>
          </a:xfrm>
          <a:prstGeom prst="rect">
            <a:avLst/>
          </a:prstGeom>
          <a:noFill/>
          <a:ln/>
        </p:spPr>
        <p:txBody>
          <a:bodyPr wrap="square" lIns="0" tIns="0" rIns="0" bIns="0" rtlCol="0" anchor="ctr"/>
          <a:lstStyle/>
          <a:p>
            <a:pPr marL="0" indent="0">
              <a:buNone/>
            </a:pPr>
            <a:r>
              <a:rPr lang="en-US" sz="1150" dirty="0">
                <a:solidFill>
                  <a:srgbClr val="44554C"/>
                </a:solidFill>
                <a:latin typeface="Calibri" pitchFamily="34" charset="0"/>
                <a:ea typeface="Calibri" pitchFamily="34" charset="-122"/>
                <a:cs typeface="Calibri" pitchFamily="34" charset="-120"/>
              </a:rPr>
              <a:t>Risk groups, Blood Sugar, BP, Age &amp; Heart Rate</a:t>
            </a:r>
            <a:endParaRPr lang="en-US" sz="1150" dirty="0"/>
          </a:p>
        </p:txBody>
      </p:sp>
      <p:sp>
        <p:nvSpPr>
          <p:cNvPr id="14" name="Shape 12"/>
          <p:cNvSpPr/>
          <p:nvPr/>
        </p:nvSpPr>
        <p:spPr>
          <a:xfrm>
            <a:off x="4343400" y="2478024"/>
            <a:ext cx="7223760" cy="0"/>
          </a:xfrm>
          <a:prstGeom prst="line">
            <a:avLst/>
          </a:prstGeom>
          <a:noFill/>
          <a:ln w="12700">
            <a:solidFill>
              <a:srgbClr val="E4EEE9"/>
            </a:solidFill>
            <a:prstDash val="solid"/>
          </a:ln>
        </p:spPr>
      </p:sp>
      <p:sp>
        <p:nvSpPr>
          <p:cNvPr id="15" name="Text 13"/>
          <p:cNvSpPr/>
          <p:nvPr/>
        </p:nvSpPr>
        <p:spPr>
          <a:xfrm>
            <a:off x="4343400" y="2596896"/>
            <a:ext cx="731520" cy="822960"/>
          </a:xfrm>
          <a:prstGeom prst="rect">
            <a:avLst/>
          </a:prstGeom>
          <a:noFill/>
          <a:ln/>
        </p:spPr>
        <p:txBody>
          <a:bodyPr wrap="square" lIns="0" tIns="0" rIns="0" bIns="0" rtlCol="0" anchor="ctr"/>
          <a:lstStyle/>
          <a:p>
            <a:pPr marL="0" indent="0">
              <a:buNone/>
            </a:pPr>
            <a:r>
              <a:rPr lang="en-US" sz="2400" b="1" dirty="0">
                <a:solidFill>
                  <a:srgbClr val="047857"/>
                </a:solidFill>
                <a:latin typeface="Cambria" pitchFamily="34" charset="0"/>
                <a:ea typeface="Cambria" pitchFamily="34" charset="-122"/>
                <a:cs typeface="Cambria" pitchFamily="34" charset="-120"/>
              </a:rPr>
              <a:t>03</a:t>
            </a:r>
            <a:endParaRPr lang="en-US" sz="2400" dirty="0"/>
          </a:p>
        </p:txBody>
      </p:sp>
      <p:sp>
        <p:nvSpPr>
          <p:cNvPr id="16" name="Text 14"/>
          <p:cNvSpPr/>
          <p:nvPr/>
        </p:nvSpPr>
        <p:spPr>
          <a:xfrm>
            <a:off x="5074920" y="2615184"/>
            <a:ext cx="621792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SQL &amp; Python Pipeline</a:t>
            </a:r>
            <a:endParaRPr lang="en-US" sz="1650" dirty="0"/>
          </a:p>
        </p:txBody>
      </p:sp>
      <p:sp>
        <p:nvSpPr>
          <p:cNvPr id="17" name="Text 15"/>
          <p:cNvSpPr/>
          <p:nvPr/>
        </p:nvSpPr>
        <p:spPr>
          <a:xfrm>
            <a:off x="5074920" y="2980944"/>
            <a:ext cx="6400800" cy="365760"/>
          </a:xfrm>
          <a:prstGeom prst="rect">
            <a:avLst/>
          </a:prstGeom>
          <a:noFill/>
          <a:ln/>
        </p:spPr>
        <p:txBody>
          <a:bodyPr wrap="square" lIns="0" tIns="0" rIns="0" bIns="0" rtlCol="0" anchor="ctr"/>
          <a:lstStyle/>
          <a:p>
            <a:pPr marL="0" indent="0">
              <a:buNone/>
            </a:pPr>
            <a:r>
              <a:rPr lang="en-US" sz="1150" dirty="0">
                <a:solidFill>
                  <a:srgbClr val="44554C"/>
                </a:solidFill>
                <a:latin typeface="Calibri" pitchFamily="34" charset="0"/>
                <a:ea typeface="Calibri" pitchFamily="34" charset="-122"/>
                <a:cs typeface="Calibri" pitchFamily="34" charset="-120"/>
              </a:rPr>
              <a:t>Reproducible queries and preprocessing</a:t>
            </a:r>
            <a:endParaRPr lang="en-US" sz="1150" dirty="0"/>
          </a:p>
        </p:txBody>
      </p:sp>
      <p:sp>
        <p:nvSpPr>
          <p:cNvPr id="18" name="Shape 16"/>
          <p:cNvSpPr/>
          <p:nvPr/>
        </p:nvSpPr>
        <p:spPr>
          <a:xfrm>
            <a:off x="4343400" y="3493008"/>
            <a:ext cx="7223760" cy="0"/>
          </a:xfrm>
          <a:prstGeom prst="line">
            <a:avLst/>
          </a:prstGeom>
          <a:noFill/>
          <a:ln w="12700">
            <a:solidFill>
              <a:srgbClr val="E4EEE9"/>
            </a:solidFill>
            <a:prstDash val="solid"/>
          </a:ln>
        </p:spPr>
      </p:sp>
      <p:sp>
        <p:nvSpPr>
          <p:cNvPr id="19" name="Text 17"/>
          <p:cNvSpPr/>
          <p:nvPr/>
        </p:nvSpPr>
        <p:spPr>
          <a:xfrm>
            <a:off x="4343400" y="3611880"/>
            <a:ext cx="731520" cy="822960"/>
          </a:xfrm>
          <a:prstGeom prst="rect">
            <a:avLst/>
          </a:prstGeom>
          <a:noFill/>
          <a:ln/>
        </p:spPr>
        <p:txBody>
          <a:bodyPr wrap="square" lIns="0" tIns="0" rIns="0" bIns="0" rtlCol="0" anchor="ctr"/>
          <a:lstStyle/>
          <a:p>
            <a:pPr marL="0" indent="0">
              <a:buNone/>
            </a:pPr>
            <a:r>
              <a:rPr lang="en-US" sz="2400" b="1" dirty="0">
                <a:solidFill>
                  <a:srgbClr val="047857"/>
                </a:solidFill>
                <a:latin typeface="Cambria" pitchFamily="34" charset="0"/>
                <a:ea typeface="Cambria" pitchFamily="34" charset="-122"/>
                <a:cs typeface="Cambria" pitchFamily="34" charset="-120"/>
              </a:rPr>
              <a:t>04</a:t>
            </a:r>
            <a:endParaRPr lang="en-US" sz="2400" dirty="0"/>
          </a:p>
        </p:txBody>
      </p:sp>
      <p:sp>
        <p:nvSpPr>
          <p:cNvPr id="20" name="Text 18"/>
          <p:cNvSpPr/>
          <p:nvPr/>
        </p:nvSpPr>
        <p:spPr>
          <a:xfrm>
            <a:off x="5074920" y="3630168"/>
            <a:ext cx="621792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Machine Learning</a:t>
            </a:r>
            <a:endParaRPr lang="en-US" sz="1650" dirty="0"/>
          </a:p>
        </p:txBody>
      </p:sp>
      <p:sp>
        <p:nvSpPr>
          <p:cNvPr id="21" name="Text 19"/>
          <p:cNvSpPr/>
          <p:nvPr/>
        </p:nvSpPr>
        <p:spPr>
          <a:xfrm>
            <a:off x="5074920" y="3995928"/>
            <a:ext cx="6400800" cy="365760"/>
          </a:xfrm>
          <a:prstGeom prst="rect">
            <a:avLst/>
          </a:prstGeom>
          <a:noFill/>
          <a:ln/>
        </p:spPr>
        <p:txBody>
          <a:bodyPr wrap="square" lIns="0" tIns="0" rIns="0" bIns="0" rtlCol="0" anchor="ctr"/>
          <a:lstStyle/>
          <a:p>
            <a:pPr marL="0" indent="0">
              <a:buNone/>
            </a:pPr>
            <a:r>
              <a:rPr lang="en-US" sz="1150" dirty="0">
                <a:solidFill>
                  <a:srgbClr val="44554C"/>
                </a:solidFill>
                <a:latin typeface="Calibri" pitchFamily="34" charset="0"/>
                <a:ea typeface="Calibri" pitchFamily="34" charset="-122"/>
                <a:cs typeface="Calibri" pitchFamily="34" charset="-120"/>
              </a:rPr>
              <a:t>Logistic Regression vs. Decision Tree</a:t>
            </a:r>
            <a:endParaRPr lang="en-US" sz="1150" dirty="0"/>
          </a:p>
        </p:txBody>
      </p:sp>
      <p:sp>
        <p:nvSpPr>
          <p:cNvPr id="22" name="Shape 20"/>
          <p:cNvSpPr/>
          <p:nvPr/>
        </p:nvSpPr>
        <p:spPr>
          <a:xfrm>
            <a:off x="4343400" y="4507992"/>
            <a:ext cx="7223760" cy="0"/>
          </a:xfrm>
          <a:prstGeom prst="line">
            <a:avLst/>
          </a:prstGeom>
          <a:noFill/>
          <a:ln w="12700">
            <a:solidFill>
              <a:srgbClr val="E4EEE9"/>
            </a:solidFill>
            <a:prstDash val="solid"/>
          </a:ln>
        </p:spPr>
      </p:sp>
      <p:sp>
        <p:nvSpPr>
          <p:cNvPr id="23" name="Text 21"/>
          <p:cNvSpPr/>
          <p:nvPr/>
        </p:nvSpPr>
        <p:spPr>
          <a:xfrm>
            <a:off x="4343400" y="4626864"/>
            <a:ext cx="731520" cy="822960"/>
          </a:xfrm>
          <a:prstGeom prst="rect">
            <a:avLst/>
          </a:prstGeom>
          <a:noFill/>
          <a:ln/>
        </p:spPr>
        <p:txBody>
          <a:bodyPr wrap="square" lIns="0" tIns="0" rIns="0" bIns="0" rtlCol="0" anchor="ctr"/>
          <a:lstStyle/>
          <a:p>
            <a:pPr marL="0" indent="0">
              <a:buNone/>
            </a:pPr>
            <a:r>
              <a:rPr lang="en-US" sz="2400" b="1" dirty="0">
                <a:solidFill>
                  <a:srgbClr val="047857"/>
                </a:solidFill>
                <a:latin typeface="Cambria" pitchFamily="34" charset="0"/>
                <a:ea typeface="Cambria" pitchFamily="34" charset="-122"/>
                <a:cs typeface="Cambria" pitchFamily="34" charset="-120"/>
              </a:rPr>
              <a:t>05</a:t>
            </a:r>
            <a:endParaRPr lang="en-US" sz="2400" dirty="0"/>
          </a:p>
        </p:txBody>
      </p:sp>
      <p:sp>
        <p:nvSpPr>
          <p:cNvPr id="24" name="Text 22"/>
          <p:cNvSpPr/>
          <p:nvPr/>
        </p:nvSpPr>
        <p:spPr>
          <a:xfrm>
            <a:off x="5074920" y="4645152"/>
            <a:ext cx="621792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Results &amp; Dashboards</a:t>
            </a:r>
            <a:endParaRPr lang="en-US" sz="1650" dirty="0"/>
          </a:p>
        </p:txBody>
      </p:sp>
      <p:sp>
        <p:nvSpPr>
          <p:cNvPr id="25" name="Text 23"/>
          <p:cNvSpPr/>
          <p:nvPr/>
        </p:nvSpPr>
        <p:spPr>
          <a:xfrm>
            <a:off x="5074920" y="5010912"/>
            <a:ext cx="6400800" cy="365760"/>
          </a:xfrm>
          <a:prstGeom prst="rect">
            <a:avLst/>
          </a:prstGeom>
          <a:noFill/>
          <a:ln/>
        </p:spPr>
        <p:txBody>
          <a:bodyPr wrap="square" lIns="0" tIns="0" rIns="0" bIns="0" rtlCol="0" anchor="ctr"/>
          <a:lstStyle/>
          <a:p>
            <a:pPr marL="0" indent="0">
              <a:buNone/>
            </a:pPr>
            <a:r>
              <a:rPr lang="en-US" sz="1150" dirty="0">
                <a:solidFill>
                  <a:srgbClr val="44554C"/>
                </a:solidFill>
                <a:latin typeface="Calibri" pitchFamily="34" charset="0"/>
                <a:ea typeface="Calibri" pitchFamily="34" charset="-122"/>
                <a:cs typeface="Calibri" pitchFamily="34" charset="-120"/>
              </a:rPr>
              <a:t>Metrics, feature importance, BI visuals</a:t>
            </a:r>
            <a:endParaRPr lang="en-US" sz="1150" dirty="0"/>
          </a:p>
        </p:txBody>
      </p:sp>
      <p:sp>
        <p:nvSpPr>
          <p:cNvPr id="26" name="Shape 24"/>
          <p:cNvSpPr/>
          <p:nvPr/>
        </p:nvSpPr>
        <p:spPr>
          <a:xfrm>
            <a:off x="4343400" y="5522976"/>
            <a:ext cx="7223760" cy="0"/>
          </a:xfrm>
          <a:prstGeom prst="line">
            <a:avLst/>
          </a:prstGeom>
          <a:noFill/>
          <a:ln w="12700">
            <a:solidFill>
              <a:srgbClr val="E4EEE9"/>
            </a:solidFill>
            <a:prstDash val="solid"/>
          </a:ln>
        </p:spPr>
      </p:sp>
      <p:sp>
        <p:nvSpPr>
          <p:cNvPr id="27" name="Text 25"/>
          <p:cNvSpPr/>
          <p:nvPr/>
        </p:nvSpPr>
        <p:spPr>
          <a:xfrm>
            <a:off x="4343400" y="5641848"/>
            <a:ext cx="731520" cy="822960"/>
          </a:xfrm>
          <a:prstGeom prst="rect">
            <a:avLst/>
          </a:prstGeom>
          <a:noFill/>
          <a:ln/>
        </p:spPr>
        <p:txBody>
          <a:bodyPr wrap="square" lIns="0" tIns="0" rIns="0" bIns="0" rtlCol="0" anchor="ctr"/>
          <a:lstStyle/>
          <a:p>
            <a:pPr marL="0" indent="0">
              <a:buNone/>
            </a:pPr>
            <a:r>
              <a:rPr lang="en-US" sz="2400" b="1" dirty="0">
                <a:solidFill>
                  <a:srgbClr val="047857"/>
                </a:solidFill>
                <a:latin typeface="Cambria" pitchFamily="34" charset="0"/>
                <a:ea typeface="Cambria" pitchFamily="34" charset="-122"/>
                <a:cs typeface="Cambria" pitchFamily="34" charset="-120"/>
              </a:rPr>
              <a:t>06</a:t>
            </a:r>
            <a:endParaRPr lang="en-US" sz="2400" dirty="0"/>
          </a:p>
        </p:txBody>
      </p:sp>
      <p:sp>
        <p:nvSpPr>
          <p:cNvPr id="28" name="Text 26"/>
          <p:cNvSpPr/>
          <p:nvPr/>
        </p:nvSpPr>
        <p:spPr>
          <a:xfrm>
            <a:off x="5074920" y="5660136"/>
            <a:ext cx="621792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Limitations &amp; Next Steps</a:t>
            </a:r>
            <a:endParaRPr lang="en-US" sz="1650" dirty="0"/>
          </a:p>
        </p:txBody>
      </p:sp>
      <p:sp>
        <p:nvSpPr>
          <p:cNvPr id="29" name="Text 27"/>
          <p:cNvSpPr/>
          <p:nvPr/>
        </p:nvSpPr>
        <p:spPr>
          <a:xfrm>
            <a:off x="5074920" y="6025896"/>
            <a:ext cx="6400800" cy="365760"/>
          </a:xfrm>
          <a:prstGeom prst="rect">
            <a:avLst/>
          </a:prstGeom>
          <a:noFill/>
          <a:ln/>
        </p:spPr>
        <p:txBody>
          <a:bodyPr wrap="square" lIns="0" tIns="0" rIns="0" bIns="0" rtlCol="0" anchor="ctr"/>
          <a:lstStyle/>
          <a:p>
            <a:pPr marL="0" indent="0">
              <a:buNone/>
            </a:pPr>
            <a:r>
              <a:rPr lang="en-US" sz="1150" dirty="0">
                <a:solidFill>
                  <a:srgbClr val="44554C"/>
                </a:solidFill>
                <a:latin typeface="Calibri" pitchFamily="34" charset="0"/>
                <a:ea typeface="Calibri" pitchFamily="34" charset="-122"/>
                <a:cs typeface="Calibri" pitchFamily="34" charset="-120"/>
              </a:rPr>
              <a:t>Scope, caveats, and recommendations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INTRODUCTION</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Why Maternal Risk Stratification?</a:t>
            </a:r>
            <a:endParaRPr lang="en-US" sz="3000" dirty="0"/>
          </a:p>
        </p:txBody>
      </p:sp>
      <p:sp>
        <p:nvSpPr>
          <p:cNvPr id="4" name="Text 2"/>
          <p:cNvSpPr/>
          <p:nvPr/>
        </p:nvSpPr>
        <p:spPr>
          <a:xfrm>
            <a:off x="548640" y="1554480"/>
            <a:ext cx="5943600" cy="1554480"/>
          </a:xfrm>
          <a:prstGeom prst="rect">
            <a:avLst/>
          </a:prstGeom>
          <a:noFill/>
          <a:ln/>
        </p:spPr>
        <p:txBody>
          <a:bodyPr wrap="square" lIns="0" tIns="0" rIns="0" bIns="0" rtlCol="0" anchor="ctr"/>
          <a:lstStyle/>
          <a:p>
            <a:pPr marL="0" indent="0">
              <a:lnSpc>
                <a:spcPct val="130000"/>
              </a:lnSpc>
              <a:buNone/>
            </a:pPr>
            <a:r>
              <a:rPr lang="en-US" sz="1400" dirty="0">
                <a:solidFill>
                  <a:srgbClr val="44554C"/>
                </a:solidFill>
                <a:latin typeface="Calibri" pitchFamily="34" charset="0"/>
                <a:ea typeface="Calibri" pitchFamily="34" charset="-122"/>
                <a:cs typeface="Calibri" pitchFamily="34" charset="-120"/>
              </a:rPr>
              <a:t>Digital health systems and low-cost IoT sensors let us monitor blood pressure, glucose, temperature, and heart rate at scale. The UCI Maternal Health Risk dataset was collected from hospitals and community clinics in rural Bangladesh through such a system.</a:t>
            </a:r>
            <a:endParaRPr lang="en-US" sz="1400" dirty="0"/>
          </a:p>
        </p:txBody>
      </p:sp>
      <p:sp>
        <p:nvSpPr>
          <p:cNvPr id="5" name="Shape 3"/>
          <p:cNvSpPr/>
          <p:nvPr/>
        </p:nvSpPr>
        <p:spPr>
          <a:xfrm>
            <a:off x="548640" y="3246120"/>
            <a:ext cx="5943600" cy="2331720"/>
          </a:xfrm>
          <a:prstGeom prst="rect">
            <a:avLst/>
          </a:prstGeom>
          <a:solidFill>
            <a:srgbClr val="ECFDF5"/>
          </a:solidFill>
          <a:ln/>
        </p:spPr>
      </p:sp>
      <p:sp>
        <p:nvSpPr>
          <p:cNvPr id="6" name="Text 4"/>
          <p:cNvSpPr/>
          <p:nvPr/>
        </p:nvSpPr>
        <p:spPr>
          <a:xfrm>
            <a:off x="868680" y="3474720"/>
            <a:ext cx="5303520" cy="320040"/>
          </a:xfrm>
          <a:prstGeom prst="rect">
            <a:avLst/>
          </a:prstGeom>
          <a:noFill/>
          <a:ln/>
        </p:spPr>
        <p:txBody>
          <a:bodyPr wrap="square" lIns="0" tIns="0" rIns="0" bIns="0" rtlCol="0" anchor="ctr"/>
          <a:lstStyle/>
          <a:p>
            <a:pPr marL="0" indent="0">
              <a:buNone/>
            </a:pPr>
            <a:r>
              <a:rPr lang="en-US" sz="1150" b="1" kern="0" spc="200" dirty="0">
                <a:solidFill>
                  <a:srgbClr val="047857"/>
                </a:solidFill>
                <a:latin typeface="Calibri" pitchFamily="34" charset="0"/>
                <a:ea typeface="Calibri" pitchFamily="34" charset="-122"/>
                <a:cs typeface="Calibri" pitchFamily="34" charset="-120"/>
              </a:rPr>
              <a:t>RESEARCH QUESTION</a:t>
            </a:r>
            <a:endParaRPr lang="en-US" sz="1150" dirty="0"/>
          </a:p>
        </p:txBody>
      </p:sp>
      <p:sp>
        <p:nvSpPr>
          <p:cNvPr id="7" name="Text 5"/>
          <p:cNvSpPr/>
          <p:nvPr/>
        </p:nvSpPr>
        <p:spPr>
          <a:xfrm>
            <a:off x="868680" y="3840480"/>
            <a:ext cx="5303520" cy="1600200"/>
          </a:xfrm>
          <a:prstGeom prst="rect">
            <a:avLst/>
          </a:prstGeom>
          <a:noFill/>
          <a:ln/>
        </p:spPr>
        <p:txBody>
          <a:bodyPr wrap="square" lIns="0" tIns="0" rIns="0" bIns="0" rtlCol="0" anchor="ctr"/>
          <a:lstStyle/>
          <a:p>
            <a:pPr marL="0" indent="0">
              <a:lnSpc>
                <a:spcPct val="130000"/>
              </a:lnSpc>
              <a:buNone/>
            </a:pPr>
            <a:r>
              <a:rPr lang="en-US" sz="1650" i="1" dirty="0">
                <a:solidFill>
                  <a:srgbClr val="0F2A20"/>
                </a:solidFill>
                <a:latin typeface="Cambria" pitchFamily="34" charset="0"/>
                <a:ea typeface="Cambria" pitchFamily="34" charset="-122"/>
                <a:cs typeface="Cambria" pitchFamily="34" charset="-120"/>
              </a:rPr>
              <a:t>How strongly do a small set of routine physiological variables distinguish Low, Mid, and High maternal risk — and can an interpretable baseline classifier identify High-Risk patients with useful sensitivity?</a:t>
            </a:r>
            <a:endParaRPr lang="en-US" sz="1650" dirty="0"/>
          </a:p>
        </p:txBody>
      </p:sp>
      <p:sp>
        <p:nvSpPr>
          <p:cNvPr id="8" name="Shape 6"/>
          <p:cNvSpPr/>
          <p:nvPr/>
        </p:nvSpPr>
        <p:spPr>
          <a:xfrm>
            <a:off x="6949440" y="1554480"/>
            <a:ext cx="4709160" cy="1188720"/>
          </a:xfrm>
          <a:prstGeom prst="rect">
            <a:avLst/>
          </a:prstGeom>
          <a:solidFill>
            <a:srgbClr val="0A3327"/>
          </a:solidFill>
          <a:ln/>
        </p:spPr>
      </p:sp>
      <p:sp>
        <p:nvSpPr>
          <p:cNvPr id="9" name="Text 7"/>
          <p:cNvSpPr/>
          <p:nvPr/>
        </p:nvSpPr>
        <p:spPr>
          <a:xfrm>
            <a:off x="7269480" y="1691640"/>
            <a:ext cx="2011680" cy="822960"/>
          </a:xfrm>
          <a:prstGeom prst="rect">
            <a:avLst/>
          </a:prstGeom>
          <a:noFill/>
          <a:ln/>
        </p:spPr>
        <p:txBody>
          <a:bodyPr wrap="square" lIns="0" tIns="0" rIns="0" bIns="0" rtlCol="0" anchor="ctr"/>
          <a:lstStyle/>
          <a:p>
            <a:pPr marL="0" indent="0">
              <a:buNone/>
            </a:pPr>
            <a:r>
              <a:rPr lang="en-US" sz="3400" b="1" dirty="0">
                <a:solidFill>
                  <a:srgbClr val="10B981"/>
                </a:solidFill>
                <a:latin typeface="Cambria" pitchFamily="34" charset="0"/>
                <a:ea typeface="Cambria" pitchFamily="34" charset="-122"/>
                <a:cs typeface="Cambria" pitchFamily="34" charset="-120"/>
              </a:rPr>
              <a:t>1,012</a:t>
            </a:r>
            <a:endParaRPr lang="en-US" sz="3400" dirty="0"/>
          </a:p>
        </p:txBody>
      </p:sp>
      <p:sp>
        <p:nvSpPr>
          <p:cNvPr id="10" name="Text 8"/>
          <p:cNvSpPr/>
          <p:nvPr/>
        </p:nvSpPr>
        <p:spPr>
          <a:xfrm>
            <a:off x="9144000" y="1920240"/>
            <a:ext cx="2377440" cy="457200"/>
          </a:xfrm>
          <a:prstGeom prst="rect">
            <a:avLst/>
          </a:prstGeom>
          <a:noFill/>
          <a:ln/>
        </p:spPr>
        <p:txBody>
          <a:bodyPr wrap="square" lIns="0" tIns="0" rIns="0" bIns="0" rtlCol="0" anchor="ctr"/>
          <a:lstStyle/>
          <a:p>
            <a:pPr marL="0" indent="0">
              <a:buNone/>
            </a:pPr>
            <a:r>
              <a:rPr lang="en-US" sz="1250" dirty="0">
                <a:solidFill>
                  <a:srgbClr val="D1FAE5"/>
                </a:solidFill>
                <a:latin typeface="Calibri" pitchFamily="34" charset="0"/>
                <a:ea typeface="Calibri" pitchFamily="34" charset="-122"/>
                <a:cs typeface="Calibri" pitchFamily="34" charset="-120"/>
              </a:rPr>
              <a:t>patients analyzed</a:t>
            </a:r>
            <a:endParaRPr lang="en-US" sz="1250" dirty="0"/>
          </a:p>
        </p:txBody>
      </p:sp>
      <p:sp>
        <p:nvSpPr>
          <p:cNvPr id="11" name="Shape 9"/>
          <p:cNvSpPr/>
          <p:nvPr/>
        </p:nvSpPr>
        <p:spPr>
          <a:xfrm>
            <a:off x="6949440" y="2971800"/>
            <a:ext cx="4709160" cy="1188720"/>
          </a:xfrm>
          <a:prstGeom prst="rect">
            <a:avLst/>
          </a:prstGeom>
          <a:solidFill>
            <a:srgbClr val="0A3327"/>
          </a:solidFill>
          <a:ln/>
        </p:spPr>
      </p:sp>
      <p:sp>
        <p:nvSpPr>
          <p:cNvPr id="12" name="Text 10"/>
          <p:cNvSpPr/>
          <p:nvPr/>
        </p:nvSpPr>
        <p:spPr>
          <a:xfrm>
            <a:off x="7269480" y="3108960"/>
            <a:ext cx="2011680" cy="822960"/>
          </a:xfrm>
          <a:prstGeom prst="rect">
            <a:avLst/>
          </a:prstGeom>
          <a:noFill/>
          <a:ln/>
        </p:spPr>
        <p:txBody>
          <a:bodyPr wrap="square" lIns="0" tIns="0" rIns="0" bIns="0" rtlCol="0" anchor="ctr"/>
          <a:lstStyle/>
          <a:p>
            <a:pPr marL="0" indent="0">
              <a:buNone/>
            </a:pPr>
            <a:r>
              <a:rPr lang="en-US" sz="3400" b="1" dirty="0">
                <a:solidFill>
                  <a:srgbClr val="10B981"/>
                </a:solidFill>
                <a:latin typeface="Cambria" pitchFamily="34" charset="0"/>
                <a:ea typeface="Cambria" pitchFamily="34" charset="-122"/>
                <a:cs typeface="Cambria" pitchFamily="34" charset="-120"/>
              </a:rPr>
              <a:t>6</a:t>
            </a:r>
            <a:endParaRPr lang="en-US" sz="3400" dirty="0"/>
          </a:p>
        </p:txBody>
      </p:sp>
      <p:sp>
        <p:nvSpPr>
          <p:cNvPr id="13" name="Text 11"/>
          <p:cNvSpPr/>
          <p:nvPr/>
        </p:nvSpPr>
        <p:spPr>
          <a:xfrm>
            <a:off x="9144000" y="3337560"/>
            <a:ext cx="2377440" cy="457200"/>
          </a:xfrm>
          <a:prstGeom prst="rect">
            <a:avLst/>
          </a:prstGeom>
          <a:noFill/>
          <a:ln/>
        </p:spPr>
        <p:txBody>
          <a:bodyPr wrap="square" lIns="0" tIns="0" rIns="0" bIns="0" rtlCol="0" anchor="ctr"/>
          <a:lstStyle/>
          <a:p>
            <a:pPr marL="0" indent="0">
              <a:buNone/>
            </a:pPr>
            <a:r>
              <a:rPr lang="en-US" sz="1250" dirty="0">
                <a:solidFill>
                  <a:srgbClr val="D1FAE5"/>
                </a:solidFill>
                <a:latin typeface="Calibri" pitchFamily="34" charset="0"/>
                <a:ea typeface="Calibri" pitchFamily="34" charset="-122"/>
                <a:cs typeface="Calibri" pitchFamily="34" charset="-120"/>
              </a:rPr>
              <a:t>physiological variables</a:t>
            </a:r>
            <a:endParaRPr lang="en-US" sz="1250" dirty="0"/>
          </a:p>
        </p:txBody>
      </p:sp>
      <p:sp>
        <p:nvSpPr>
          <p:cNvPr id="14" name="Shape 12"/>
          <p:cNvSpPr/>
          <p:nvPr/>
        </p:nvSpPr>
        <p:spPr>
          <a:xfrm>
            <a:off x="6949440" y="4389120"/>
            <a:ext cx="4709160" cy="1188720"/>
          </a:xfrm>
          <a:prstGeom prst="rect">
            <a:avLst/>
          </a:prstGeom>
          <a:solidFill>
            <a:srgbClr val="0A3327"/>
          </a:solidFill>
          <a:ln/>
        </p:spPr>
      </p:sp>
      <p:sp>
        <p:nvSpPr>
          <p:cNvPr id="15" name="Text 13"/>
          <p:cNvSpPr/>
          <p:nvPr/>
        </p:nvSpPr>
        <p:spPr>
          <a:xfrm>
            <a:off x="7269480" y="4526280"/>
            <a:ext cx="2011680" cy="822960"/>
          </a:xfrm>
          <a:prstGeom prst="rect">
            <a:avLst/>
          </a:prstGeom>
          <a:noFill/>
          <a:ln/>
        </p:spPr>
        <p:txBody>
          <a:bodyPr wrap="square" lIns="0" tIns="0" rIns="0" bIns="0" rtlCol="0" anchor="ctr"/>
          <a:lstStyle/>
          <a:p>
            <a:pPr marL="0" indent="0">
              <a:buNone/>
            </a:pPr>
            <a:r>
              <a:rPr lang="en-US" sz="3400" b="1" dirty="0">
                <a:solidFill>
                  <a:srgbClr val="10B981"/>
                </a:solidFill>
                <a:latin typeface="Cambria" pitchFamily="34" charset="0"/>
                <a:ea typeface="Cambria" pitchFamily="34" charset="-122"/>
                <a:cs typeface="Cambria" pitchFamily="34" charset="-120"/>
              </a:rPr>
              <a:t>3</a:t>
            </a:r>
            <a:endParaRPr lang="en-US" sz="3400" dirty="0"/>
          </a:p>
        </p:txBody>
      </p:sp>
      <p:sp>
        <p:nvSpPr>
          <p:cNvPr id="16" name="Text 14"/>
          <p:cNvSpPr/>
          <p:nvPr/>
        </p:nvSpPr>
        <p:spPr>
          <a:xfrm>
            <a:off x="9144000" y="4754880"/>
            <a:ext cx="2377440" cy="457200"/>
          </a:xfrm>
          <a:prstGeom prst="rect">
            <a:avLst/>
          </a:prstGeom>
          <a:noFill/>
          <a:ln/>
        </p:spPr>
        <p:txBody>
          <a:bodyPr wrap="square" lIns="0" tIns="0" rIns="0" bIns="0" rtlCol="0" anchor="ctr"/>
          <a:lstStyle/>
          <a:p>
            <a:pPr marL="0" indent="0">
              <a:buNone/>
            </a:pPr>
            <a:r>
              <a:rPr lang="en-US" sz="1250" dirty="0">
                <a:solidFill>
                  <a:srgbClr val="D1FAE5"/>
                </a:solidFill>
                <a:latin typeface="Calibri" pitchFamily="34" charset="0"/>
                <a:ea typeface="Calibri" pitchFamily="34" charset="-122"/>
                <a:cs typeface="Calibri" pitchFamily="34" charset="-120"/>
              </a:rPr>
              <a:t>risk classes: Low / Mid / High</a:t>
            </a:r>
            <a:endParaRPr lang="en-US" sz="1250" dirty="0"/>
          </a:p>
        </p:txBody>
      </p:sp>
      <p:sp>
        <p:nvSpPr>
          <p:cNvPr id="17" name="Text 15"/>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8" name="Text 16"/>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DATA &amp; STUDY DESIGN</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Data Source &amp; Variables</a:t>
            </a:r>
            <a:endParaRPr lang="en-US" sz="3000" dirty="0"/>
          </a:p>
        </p:txBody>
      </p:sp>
      <p:sp>
        <p:nvSpPr>
          <p:cNvPr id="4" name="Text 2"/>
          <p:cNvSpPr/>
          <p:nvPr/>
        </p:nvSpPr>
        <p:spPr>
          <a:xfrm>
            <a:off x="548640" y="1508760"/>
            <a:ext cx="11064240" cy="685800"/>
          </a:xfrm>
          <a:prstGeom prst="rect">
            <a:avLst/>
          </a:prstGeom>
          <a:noFill/>
          <a:ln/>
        </p:spPr>
        <p:txBody>
          <a:bodyPr wrap="square" lIns="0" tIns="0" rIns="0" bIns="0" rtlCol="0" anchor="ctr"/>
          <a:lstStyle/>
          <a:p>
            <a:pPr marL="0" indent="0">
              <a:lnSpc>
                <a:spcPct val="125000"/>
              </a:lnSpc>
              <a:buNone/>
            </a:pPr>
            <a:r>
              <a:rPr lang="en-US" sz="1300" dirty="0">
                <a:solidFill>
                  <a:srgbClr val="44554C"/>
                </a:solidFill>
                <a:latin typeface="Calibri" pitchFamily="34" charset="0"/>
                <a:ea typeface="Calibri" pitchFamily="34" charset="-122"/>
                <a:cs typeface="Calibri" pitchFamily="34" charset="-120"/>
              </a:rPr>
              <a:t>UCI Maternal Health Risk dataset (Dataset 863) — Ahmed (2020), DOI 10.24432/C5DP5D. Collected via an IoT-based risk-monitoring system in rural Bangladesh; 1,014 raw observations, no missing values.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3749040"/>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Variable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Type / Unit</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Age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Numeric; years</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Maternal age recorded in years</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SystolicBP</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Numeric; mmHg</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Systolic blood pressure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DiastolicBP</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Numeric; mmHg</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Diastolic blood pressure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BS</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Numeric; mmol/L</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Blood sugar (glucose) concentration</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BodyTemp</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Numeric; °F</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Body temperature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HeartRate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Numeric; bpm</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Heart rate</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6"/>
                  </a:ext>
                </a:extLst>
              </a:tr>
              <a:tr h="475488">
                <a:tc>
                  <a:txBody>
                    <a:bodyPr/>
                    <a:lstStyle/>
                    <a:p>
                      <a:pPr marL="0" indent="0">
                        <a:buNone/>
                      </a:pPr>
                      <a:r>
                        <a:rPr lang="en-US" sz="1300" b="1" dirty="0">
                          <a:solidFill>
                            <a:srgbClr val="0F2A20"/>
                          </a:solidFill>
                          <a:latin typeface="Calibri" pitchFamily="34" charset="0"/>
                          <a:ea typeface="Calibri" pitchFamily="34" charset="-122"/>
                          <a:cs typeface="Calibri" pitchFamily="34" charset="-120"/>
                        </a:rPr>
                        <a:t>RiskLevel</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Categorical (target)</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Low Risk, Mid Risk, or High Risk</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7" name="Text 4"/>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DATA &amp; STUDY DESIGN</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Data Cleaning &amp; Quality Decisions</a:t>
            </a:r>
            <a:endParaRPr lang="en-US" sz="3000" dirty="0"/>
          </a:p>
        </p:txBody>
      </p:sp>
      <p:sp>
        <p:nvSpPr>
          <p:cNvPr id="4" name="Shape 2"/>
          <p:cNvSpPr/>
          <p:nvPr/>
        </p:nvSpPr>
        <p:spPr>
          <a:xfrm>
            <a:off x="548640" y="1691640"/>
            <a:ext cx="2670048" cy="3337560"/>
          </a:xfrm>
          <a:prstGeom prst="rect">
            <a:avLst/>
          </a:prstGeom>
          <a:solidFill>
            <a:srgbClr val="ECFDF5"/>
          </a:solidFill>
          <a:ln/>
        </p:spPr>
      </p:sp>
      <p:sp>
        <p:nvSpPr>
          <p:cNvPr id="5" name="Text 3"/>
          <p:cNvSpPr/>
          <p:nvPr/>
        </p:nvSpPr>
        <p:spPr>
          <a:xfrm>
            <a:off x="777240" y="1947672"/>
            <a:ext cx="2212848" cy="822960"/>
          </a:xfrm>
          <a:prstGeom prst="rect">
            <a:avLst/>
          </a:prstGeom>
          <a:noFill/>
          <a:ln/>
        </p:spPr>
        <p:txBody>
          <a:bodyPr wrap="square" lIns="0" tIns="0" rIns="0" bIns="0" rtlCol="0" anchor="ctr"/>
          <a:lstStyle/>
          <a:p>
            <a:pPr marL="0" indent="0">
              <a:buNone/>
            </a:pPr>
            <a:r>
              <a:rPr lang="en-US" sz="3200" b="1" dirty="0">
                <a:solidFill>
                  <a:srgbClr val="047857"/>
                </a:solidFill>
                <a:latin typeface="Cambria" pitchFamily="34" charset="0"/>
                <a:ea typeface="Cambria" pitchFamily="34" charset="-122"/>
                <a:cs typeface="Cambria" pitchFamily="34" charset="-120"/>
              </a:rPr>
              <a:t>0</a:t>
            </a:r>
            <a:endParaRPr lang="en-US" sz="3200" dirty="0"/>
          </a:p>
        </p:txBody>
      </p:sp>
      <p:sp>
        <p:nvSpPr>
          <p:cNvPr id="6" name="Text 4"/>
          <p:cNvSpPr/>
          <p:nvPr/>
        </p:nvSpPr>
        <p:spPr>
          <a:xfrm>
            <a:off x="777240" y="2743200"/>
            <a:ext cx="2212848" cy="640080"/>
          </a:xfrm>
          <a:prstGeom prst="rect">
            <a:avLst/>
          </a:prstGeom>
          <a:noFill/>
          <a:ln/>
        </p:spPr>
        <p:txBody>
          <a:bodyPr wrap="square" lIns="0" tIns="0" rIns="0" bIns="0" rtlCol="0" anchor="ctr"/>
          <a:lstStyle/>
          <a:p>
            <a:pPr marL="0" indent="0">
              <a:lnSpc>
                <a:spcPct val="105000"/>
              </a:lnSpc>
              <a:buNone/>
            </a:pPr>
            <a:r>
              <a:rPr lang="en-US" sz="1450" b="1" dirty="0">
                <a:solidFill>
                  <a:srgbClr val="0F2A20"/>
                </a:solidFill>
                <a:latin typeface="Cambria" pitchFamily="34" charset="0"/>
                <a:ea typeface="Cambria" pitchFamily="34" charset="-122"/>
                <a:cs typeface="Cambria" pitchFamily="34" charset="-120"/>
              </a:rPr>
              <a:t>Missing values</a:t>
            </a:r>
            <a:endParaRPr lang="en-US" sz="1450" dirty="0"/>
          </a:p>
        </p:txBody>
      </p:sp>
      <p:sp>
        <p:nvSpPr>
          <p:cNvPr id="7" name="Text 5"/>
          <p:cNvSpPr/>
          <p:nvPr/>
        </p:nvSpPr>
        <p:spPr>
          <a:xfrm>
            <a:off x="777240" y="3383280"/>
            <a:ext cx="2212848" cy="1508760"/>
          </a:xfrm>
          <a:prstGeom prst="rect">
            <a:avLst/>
          </a:prstGeom>
          <a:noFill/>
          <a:ln/>
        </p:spPr>
        <p:txBody>
          <a:bodyPr wrap="square" lIns="0" tIns="0" rIns="0" bIns="0" rtlCol="0" anchor="ctr"/>
          <a:lstStyle/>
          <a:p>
            <a:pPr marL="0" indent="0">
              <a:lnSpc>
                <a:spcPct val="125000"/>
              </a:lnSpc>
              <a:buNone/>
            </a:pPr>
            <a:r>
              <a:rPr lang="en-US" sz="1100" dirty="0">
                <a:solidFill>
                  <a:srgbClr val="44554C"/>
                </a:solidFill>
                <a:latin typeface="Calibri" pitchFamily="34" charset="0"/>
                <a:ea typeface="Calibri" pitchFamily="34" charset="-122"/>
                <a:cs typeface="Calibri" pitchFamily="34" charset="-120"/>
              </a:rPr>
              <a:t>None found — no imputation needed.</a:t>
            </a:r>
            <a:endParaRPr lang="en-US" sz="1100" dirty="0"/>
          </a:p>
        </p:txBody>
      </p:sp>
      <p:sp>
        <p:nvSpPr>
          <p:cNvPr id="8" name="Shape 6"/>
          <p:cNvSpPr/>
          <p:nvPr/>
        </p:nvSpPr>
        <p:spPr>
          <a:xfrm>
            <a:off x="3419856" y="1691640"/>
            <a:ext cx="2670048" cy="3337560"/>
          </a:xfrm>
          <a:prstGeom prst="rect">
            <a:avLst/>
          </a:prstGeom>
          <a:solidFill>
            <a:srgbClr val="ECFDF5"/>
          </a:solidFill>
          <a:ln/>
        </p:spPr>
      </p:sp>
      <p:sp>
        <p:nvSpPr>
          <p:cNvPr id="9" name="Text 7"/>
          <p:cNvSpPr/>
          <p:nvPr/>
        </p:nvSpPr>
        <p:spPr>
          <a:xfrm>
            <a:off x="3648456" y="1947672"/>
            <a:ext cx="2212848" cy="822960"/>
          </a:xfrm>
          <a:prstGeom prst="rect">
            <a:avLst/>
          </a:prstGeom>
          <a:noFill/>
          <a:ln/>
        </p:spPr>
        <p:txBody>
          <a:bodyPr wrap="square" lIns="0" tIns="0" rIns="0" bIns="0" rtlCol="0" anchor="ctr"/>
          <a:lstStyle/>
          <a:p>
            <a:pPr marL="0" indent="0">
              <a:buNone/>
            </a:pPr>
            <a:r>
              <a:rPr lang="en-US" sz="3200" b="1" dirty="0">
                <a:solidFill>
                  <a:srgbClr val="047857"/>
                </a:solidFill>
                <a:latin typeface="Cambria" pitchFamily="34" charset="0"/>
                <a:ea typeface="Cambria" pitchFamily="34" charset="-122"/>
                <a:cs typeface="Cambria" pitchFamily="34" charset="-120"/>
              </a:rPr>
              <a:t>562</a:t>
            </a:r>
            <a:endParaRPr lang="en-US" sz="3200" dirty="0"/>
          </a:p>
        </p:txBody>
      </p:sp>
      <p:sp>
        <p:nvSpPr>
          <p:cNvPr id="10" name="Text 8"/>
          <p:cNvSpPr/>
          <p:nvPr/>
        </p:nvSpPr>
        <p:spPr>
          <a:xfrm>
            <a:off x="3648456" y="2743200"/>
            <a:ext cx="2212848" cy="640080"/>
          </a:xfrm>
          <a:prstGeom prst="rect">
            <a:avLst/>
          </a:prstGeom>
          <a:noFill/>
          <a:ln/>
        </p:spPr>
        <p:txBody>
          <a:bodyPr wrap="square" lIns="0" tIns="0" rIns="0" bIns="0" rtlCol="0" anchor="ctr"/>
          <a:lstStyle/>
          <a:p>
            <a:pPr marL="0" indent="0">
              <a:lnSpc>
                <a:spcPct val="105000"/>
              </a:lnSpc>
              <a:buNone/>
            </a:pPr>
            <a:r>
              <a:rPr lang="en-US" sz="1450" b="1" dirty="0">
                <a:solidFill>
                  <a:srgbClr val="0F2A20"/>
                </a:solidFill>
                <a:latin typeface="Cambria" pitchFamily="34" charset="0"/>
                <a:ea typeface="Cambria" pitchFamily="34" charset="-122"/>
                <a:cs typeface="Cambria" pitchFamily="34" charset="-120"/>
              </a:rPr>
              <a:t>Exact duplicates</a:t>
            </a:r>
            <a:endParaRPr lang="en-US" sz="1450" dirty="0"/>
          </a:p>
        </p:txBody>
      </p:sp>
      <p:sp>
        <p:nvSpPr>
          <p:cNvPr id="11" name="Text 9"/>
          <p:cNvSpPr/>
          <p:nvPr/>
        </p:nvSpPr>
        <p:spPr>
          <a:xfrm>
            <a:off x="3648456" y="3383280"/>
            <a:ext cx="2212848" cy="1508760"/>
          </a:xfrm>
          <a:prstGeom prst="rect">
            <a:avLst/>
          </a:prstGeom>
          <a:noFill/>
          <a:ln/>
        </p:spPr>
        <p:txBody>
          <a:bodyPr wrap="square" lIns="0" tIns="0" rIns="0" bIns="0" rtlCol="0" anchor="ctr"/>
          <a:lstStyle/>
          <a:p>
            <a:pPr marL="0" indent="0">
              <a:lnSpc>
                <a:spcPct val="125000"/>
              </a:lnSpc>
              <a:buNone/>
            </a:pPr>
            <a:r>
              <a:rPr lang="en-US" sz="1100" dirty="0">
                <a:solidFill>
                  <a:srgbClr val="44554C"/>
                </a:solidFill>
                <a:latin typeface="Calibri" pitchFamily="34" charset="0"/>
                <a:ea typeface="Calibri" pitchFamily="34" charset="-122"/>
                <a:cs typeface="Calibri" pitchFamily="34" charset="-120"/>
              </a:rPr>
              <a:t>Retained. Coarse sensor rounding can legitimately create identical rows across different patients.</a:t>
            </a:r>
            <a:endParaRPr lang="en-US" sz="1100" dirty="0"/>
          </a:p>
        </p:txBody>
      </p:sp>
      <p:sp>
        <p:nvSpPr>
          <p:cNvPr id="12" name="Shape 10"/>
          <p:cNvSpPr/>
          <p:nvPr/>
        </p:nvSpPr>
        <p:spPr>
          <a:xfrm>
            <a:off x="6291072" y="1691640"/>
            <a:ext cx="2670048" cy="3337560"/>
          </a:xfrm>
          <a:prstGeom prst="rect">
            <a:avLst/>
          </a:prstGeom>
          <a:solidFill>
            <a:srgbClr val="ECFDF5"/>
          </a:solidFill>
          <a:ln/>
        </p:spPr>
      </p:sp>
      <p:sp>
        <p:nvSpPr>
          <p:cNvPr id="13" name="Text 11"/>
          <p:cNvSpPr/>
          <p:nvPr/>
        </p:nvSpPr>
        <p:spPr>
          <a:xfrm>
            <a:off x="6519672" y="1947672"/>
            <a:ext cx="2212848" cy="822960"/>
          </a:xfrm>
          <a:prstGeom prst="rect">
            <a:avLst/>
          </a:prstGeom>
          <a:noFill/>
          <a:ln/>
        </p:spPr>
        <p:txBody>
          <a:bodyPr wrap="square" lIns="0" tIns="0" rIns="0" bIns="0" rtlCol="0" anchor="ctr"/>
          <a:lstStyle/>
          <a:p>
            <a:pPr marL="0" indent="0">
              <a:buNone/>
            </a:pPr>
            <a:r>
              <a:rPr lang="en-US" sz="3200" b="1" dirty="0">
                <a:solidFill>
                  <a:srgbClr val="047857"/>
                </a:solidFill>
                <a:latin typeface="Cambria" pitchFamily="34" charset="0"/>
                <a:ea typeface="Cambria" pitchFamily="34" charset="-122"/>
                <a:cs typeface="Cambria" pitchFamily="34" charset="-120"/>
              </a:rPr>
              <a:t>2</a:t>
            </a:r>
            <a:endParaRPr lang="en-US" sz="3200" dirty="0"/>
          </a:p>
        </p:txBody>
      </p:sp>
      <p:sp>
        <p:nvSpPr>
          <p:cNvPr id="14" name="Text 12"/>
          <p:cNvSpPr/>
          <p:nvPr/>
        </p:nvSpPr>
        <p:spPr>
          <a:xfrm>
            <a:off x="6519672" y="2743200"/>
            <a:ext cx="2212848" cy="640080"/>
          </a:xfrm>
          <a:prstGeom prst="rect">
            <a:avLst/>
          </a:prstGeom>
          <a:noFill/>
          <a:ln/>
        </p:spPr>
        <p:txBody>
          <a:bodyPr wrap="square" lIns="0" tIns="0" rIns="0" bIns="0" rtlCol="0" anchor="ctr"/>
          <a:lstStyle/>
          <a:p>
            <a:pPr marL="0" indent="0">
              <a:lnSpc>
                <a:spcPct val="105000"/>
              </a:lnSpc>
              <a:buNone/>
            </a:pPr>
            <a:r>
              <a:rPr lang="en-US" sz="1450" b="1" dirty="0">
                <a:solidFill>
                  <a:srgbClr val="0F2A20"/>
                </a:solidFill>
                <a:latin typeface="Cambria" pitchFamily="34" charset="0"/>
                <a:ea typeface="Cambria" pitchFamily="34" charset="-122"/>
                <a:cs typeface="Cambria" pitchFamily="34" charset="-120"/>
              </a:rPr>
              <a:t>Implausible Heart Rate</a:t>
            </a:r>
            <a:endParaRPr lang="en-US" sz="1450" dirty="0"/>
          </a:p>
        </p:txBody>
      </p:sp>
      <p:sp>
        <p:nvSpPr>
          <p:cNvPr id="15" name="Text 13"/>
          <p:cNvSpPr/>
          <p:nvPr/>
        </p:nvSpPr>
        <p:spPr>
          <a:xfrm>
            <a:off x="6519672" y="3383280"/>
            <a:ext cx="2212848" cy="1508760"/>
          </a:xfrm>
          <a:prstGeom prst="rect">
            <a:avLst/>
          </a:prstGeom>
          <a:noFill/>
          <a:ln/>
        </p:spPr>
        <p:txBody>
          <a:bodyPr wrap="square" lIns="0" tIns="0" rIns="0" bIns="0" rtlCol="0" anchor="ctr"/>
          <a:lstStyle/>
          <a:p>
            <a:pPr marL="0" indent="0">
              <a:lnSpc>
                <a:spcPct val="125000"/>
              </a:lnSpc>
              <a:buNone/>
            </a:pPr>
            <a:r>
              <a:rPr lang="en-US" sz="1100" dirty="0">
                <a:solidFill>
                  <a:srgbClr val="44554C"/>
                </a:solidFill>
                <a:latin typeface="Calibri" pitchFamily="34" charset="0"/>
                <a:ea typeface="Calibri" pitchFamily="34" charset="-122"/>
                <a:cs typeface="Calibri" pitchFamily="34" charset="-120"/>
              </a:rPr>
              <a:t>Two records with HR = 7 bpm removed as sensor/entry errors — no replacement imputed.</a:t>
            </a:r>
            <a:endParaRPr lang="en-US" sz="1100" dirty="0"/>
          </a:p>
        </p:txBody>
      </p:sp>
      <p:sp>
        <p:nvSpPr>
          <p:cNvPr id="16" name="Shape 14"/>
          <p:cNvSpPr/>
          <p:nvPr/>
        </p:nvSpPr>
        <p:spPr>
          <a:xfrm>
            <a:off x="9162288" y="1691640"/>
            <a:ext cx="2670048" cy="3337560"/>
          </a:xfrm>
          <a:prstGeom prst="rect">
            <a:avLst/>
          </a:prstGeom>
          <a:solidFill>
            <a:srgbClr val="0A3327"/>
          </a:solidFill>
          <a:ln/>
        </p:spPr>
      </p:sp>
      <p:sp>
        <p:nvSpPr>
          <p:cNvPr id="17" name="Text 15"/>
          <p:cNvSpPr/>
          <p:nvPr/>
        </p:nvSpPr>
        <p:spPr>
          <a:xfrm>
            <a:off x="9390888" y="1947672"/>
            <a:ext cx="2212848" cy="822960"/>
          </a:xfrm>
          <a:prstGeom prst="rect">
            <a:avLst/>
          </a:prstGeom>
          <a:noFill/>
          <a:ln/>
        </p:spPr>
        <p:txBody>
          <a:bodyPr wrap="square" lIns="0" tIns="0" rIns="0" bIns="0" rtlCol="0" anchor="ctr"/>
          <a:lstStyle/>
          <a:p>
            <a:pPr marL="0" indent="0">
              <a:buNone/>
            </a:pPr>
            <a:r>
              <a:rPr lang="en-US" sz="3200" b="1" dirty="0">
                <a:solidFill>
                  <a:srgbClr val="10B981"/>
                </a:solidFill>
                <a:latin typeface="Cambria" pitchFamily="34" charset="0"/>
                <a:ea typeface="Cambria" pitchFamily="34" charset="-122"/>
                <a:cs typeface="Cambria" pitchFamily="34" charset="-120"/>
              </a:rPr>
              <a:t>1,012</a:t>
            </a:r>
            <a:endParaRPr lang="en-US" sz="3200" dirty="0"/>
          </a:p>
        </p:txBody>
      </p:sp>
      <p:sp>
        <p:nvSpPr>
          <p:cNvPr id="18" name="Text 16"/>
          <p:cNvSpPr/>
          <p:nvPr/>
        </p:nvSpPr>
        <p:spPr>
          <a:xfrm>
            <a:off x="9390888" y="2743200"/>
            <a:ext cx="2212848" cy="640080"/>
          </a:xfrm>
          <a:prstGeom prst="rect">
            <a:avLst/>
          </a:prstGeom>
          <a:noFill/>
          <a:ln/>
        </p:spPr>
        <p:txBody>
          <a:bodyPr wrap="square" lIns="0" tIns="0" rIns="0" bIns="0" rtlCol="0" anchor="ctr"/>
          <a:lstStyle/>
          <a:p>
            <a:pPr marL="0" indent="0">
              <a:lnSpc>
                <a:spcPct val="105000"/>
              </a:lnSpc>
              <a:buNone/>
            </a:pPr>
            <a:r>
              <a:rPr lang="en-US" sz="1450" b="1" dirty="0">
                <a:solidFill>
                  <a:srgbClr val="FFFFFF"/>
                </a:solidFill>
                <a:latin typeface="Cambria" pitchFamily="34" charset="0"/>
                <a:ea typeface="Cambria" pitchFamily="34" charset="-122"/>
                <a:cs typeface="Cambria" pitchFamily="34" charset="-120"/>
              </a:rPr>
              <a:t>Final analytical sample</a:t>
            </a:r>
            <a:endParaRPr lang="en-US" sz="1450" dirty="0"/>
          </a:p>
        </p:txBody>
      </p:sp>
      <p:sp>
        <p:nvSpPr>
          <p:cNvPr id="19" name="Text 17"/>
          <p:cNvSpPr/>
          <p:nvPr/>
        </p:nvSpPr>
        <p:spPr>
          <a:xfrm>
            <a:off x="9390888" y="3383280"/>
            <a:ext cx="2212848" cy="1508760"/>
          </a:xfrm>
          <a:prstGeom prst="rect">
            <a:avLst/>
          </a:prstGeom>
          <a:noFill/>
          <a:ln/>
        </p:spPr>
        <p:txBody>
          <a:bodyPr wrap="square" lIns="0" tIns="0" rIns="0" bIns="0" rtlCol="0" anchor="ctr"/>
          <a:lstStyle/>
          <a:p>
            <a:pPr marL="0" indent="0">
              <a:lnSpc>
                <a:spcPct val="125000"/>
              </a:lnSpc>
              <a:buNone/>
            </a:pPr>
            <a:r>
              <a:rPr lang="en-US" sz="1100" dirty="0">
                <a:solidFill>
                  <a:srgbClr val="D1FAE5"/>
                </a:solidFill>
                <a:latin typeface="Calibri" pitchFamily="34" charset="0"/>
                <a:ea typeface="Calibri" pitchFamily="34" charset="-122"/>
                <a:cs typeface="Calibri" pitchFamily="34" charset="-120"/>
              </a:rPr>
              <a:t>Used consistently across every table, figure, model, and dashboard in this deck.</a:t>
            </a:r>
            <a:endParaRPr lang="en-US" sz="1100" dirty="0"/>
          </a:p>
        </p:txBody>
      </p:sp>
      <p:sp>
        <p:nvSpPr>
          <p:cNvPr id="20" name="Text 18"/>
          <p:cNvSpPr/>
          <p:nvPr/>
        </p:nvSpPr>
        <p:spPr>
          <a:xfrm>
            <a:off x="548640" y="5349240"/>
            <a:ext cx="10972800" cy="365760"/>
          </a:xfrm>
          <a:prstGeom prst="rect">
            <a:avLst/>
          </a:prstGeom>
          <a:noFill/>
          <a:ln/>
        </p:spPr>
        <p:txBody>
          <a:bodyPr wrap="square" lIns="0" tIns="0" rIns="0" bIns="0" rtlCol="0" anchor="ctr"/>
          <a:lstStyle/>
          <a:p>
            <a:pPr marL="0" indent="0">
              <a:buNone/>
            </a:pPr>
            <a:r>
              <a:rPr lang="en-US" sz="1300" i="1" dirty="0">
                <a:solidFill>
                  <a:srgbClr val="44554C"/>
                </a:solidFill>
                <a:latin typeface="Calibri" pitchFamily="34" charset="0"/>
                <a:ea typeface="Calibri" pitchFamily="34" charset="-122"/>
                <a:cs typeface="Calibri" pitchFamily="34" charset="-120"/>
              </a:rPr>
              <a:t>Final class balance: Low Risk 404 (39.9%)  ·  Mid Risk 336 (33.2%)  ·  High Risk 272 (26.9%)</a:t>
            </a:r>
            <a:endParaRPr lang="en-US" sz="1300" dirty="0"/>
          </a:p>
        </p:txBody>
      </p:sp>
      <p:sp>
        <p:nvSpPr>
          <p:cNvPr id="21" name="Text 19"/>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22" name="Text 20"/>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EXPLORATORY DATA ANALYSIS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Risk-Level Distribution</a:t>
            </a:r>
            <a:endParaRPr lang="en-US" sz="3000" dirty="0"/>
          </a:p>
        </p:txBody>
      </p:sp>
      <p:pic>
        <p:nvPicPr>
          <p:cNvPr id="4" name="Image 0" descr="01_risklevel_distribution.png"/>
          <p:cNvPicPr>
            <a:picLocks noChangeAspect="1"/>
          </p:cNvPicPr>
          <p:nvPr/>
        </p:nvPicPr>
        <p:blipFill>
          <a:blip r:embed="rId3"/>
          <a:srcRect/>
          <a:stretch/>
        </p:blipFill>
        <p:spPr>
          <a:xfrm>
            <a:off x="548640" y="1508760"/>
            <a:ext cx="5623560" cy="4160520"/>
          </a:xfrm>
          <a:prstGeom prst="rect">
            <a:avLst/>
          </a:prstGeom>
        </p:spPr>
      </p:pic>
      <p:sp>
        <p:nvSpPr>
          <p:cNvPr id="5" name="Text 2"/>
          <p:cNvSpPr/>
          <p:nvPr/>
        </p:nvSpPr>
        <p:spPr>
          <a:xfrm>
            <a:off x="6446520" y="1508760"/>
            <a:ext cx="5120640" cy="320040"/>
          </a:xfrm>
          <a:prstGeom prst="rect">
            <a:avLst/>
          </a:prstGeom>
          <a:noFill/>
          <a:ln/>
        </p:spPr>
        <p:txBody>
          <a:bodyPr wrap="square" lIns="0" tIns="0" rIns="0" bIns="0" rtlCol="0" anchor="ctr"/>
          <a:lstStyle/>
          <a:p>
            <a:pPr marL="0" indent="0">
              <a:buNone/>
            </a:pPr>
            <a:r>
              <a:rPr lang="en-US" sz="1500" b="1" dirty="0">
                <a:solidFill>
                  <a:srgbClr val="0F2A20"/>
                </a:solidFill>
                <a:latin typeface="Cambria" pitchFamily="34" charset="0"/>
                <a:ea typeface="Cambria" pitchFamily="34" charset="-122"/>
                <a:cs typeface="Cambria" pitchFamily="34" charset="-120"/>
              </a:rPr>
              <a:t>Group-level means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46520" y="1920240"/>
          <a:ext cx="5166360" cy="1508760"/>
        </p:xfrm>
        <a:graphic>
          <a:graphicData uri="http://schemas.openxmlformats.org/drawingml/2006/table">
            <a:tbl>
              <a:tblPr/>
              <a:tblGrid>
                <a:gridCol w="738051">
                  <a:extLst>
                    <a:ext uri="{9D8B030D-6E8A-4147-A177-3AD203B41FA5}">
                      <a16:colId xmlns:a16="http://schemas.microsoft.com/office/drawing/2014/main" val="20000"/>
                    </a:ext>
                  </a:extLst>
                </a:gridCol>
                <a:gridCol w="738051">
                  <a:extLst>
                    <a:ext uri="{9D8B030D-6E8A-4147-A177-3AD203B41FA5}">
                      <a16:colId xmlns:a16="http://schemas.microsoft.com/office/drawing/2014/main" val="20001"/>
                    </a:ext>
                  </a:extLst>
                </a:gridCol>
                <a:gridCol w="738051">
                  <a:extLst>
                    <a:ext uri="{9D8B030D-6E8A-4147-A177-3AD203B41FA5}">
                      <a16:colId xmlns:a16="http://schemas.microsoft.com/office/drawing/2014/main" val="20002"/>
                    </a:ext>
                  </a:extLst>
                </a:gridCol>
                <a:gridCol w="738051">
                  <a:extLst>
                    <a:ext uri="{9D8B030D-6E8A-4147-A177-3AD203B41FA5}">
                      <a16:colId xmlns:a16="http://schemas.microsoft.com/office/drawing/2014/main" val="20003"/>
                    </a:ext>
                  </a:extLst>
                </a:gridCol>
                <a:gridCol w="738051">
                  <a:extLst>
                    <a:ext uri="{9D8B030D-6E8A-4147-A177-3AD203B41FA5}">
                      <a16:colId xmlns:a16="http://schemas.microsoft.com/office/drawing/2014/main" val="20004"/>
                    </a:ext>
                  </a:extLst>
                </a:gridCol>
                <a:gridCol w="738051">
                  <a:extLst>
                    <a:ext uri="{9D8B030D-6E8A-4147-A177-3AD203B41FA5}">
                      <a16:colId xmlns:a16="http://schemas.microsoft.com/office/drawing/2014/main" val="20005"/>
                    </a:ext>
                  </a:extLst>
                </a:gridCol>
                <a:gridCol w="738051">
                  <a:extLst>
                    <a:ext uri="{9D8B030D-6E8A-4147-A177-3AD203B41FA5}">
                      <a16:colId xmlns:a16="http://schemas.microsoft.com/office/drawing/2014/main" val="20006"/>
                    </a:ext>
                  </a:extLst>
                </a:gridCol>
              </a:tblGrid>
              <a:tr h="37719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Age</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SBP</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DBP</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BS</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extLst>
                  <a:ext uri="{0D108BD9-81ED-4DB2-BD59-A6C34878D82A}">
                    <a16:rowId xmlns:a16="http://schemas.microsoft.com/office/drawing/2014/main" val="10000"/>
                  </a:ext>
                </a:extLst>
              </a:tr>
              <a:tr h="377190">
                <a:tc>
                  <a:txBody>
                    <a:bodyPr/>
                    <a:lstStyle/>
                    <a:p>
                      <a:pPr marL="0" indent="0">
                        <a:buNone/>
                      </a:pPr>
                      <a:r>
                        <a:rPr lang="en-US" sz="1250" b="1" dirty="0">
                          <a:solidFill>
                            <a:srgbClr val="0F2A20"/>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404</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26.9</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105.8</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72.5</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7.22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73.1</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buNone/>
                      </a:pPr>
                      <a:r>
                        <a:rPr lang="en-US" sz="1250" b="1" dirty="0">
                          <a:solidFill>
                            <a:srgbClr val="0F2A20"/>
                          </a:solidFill>
                          <a:latin typeface="Calibri" pitchFamily="34" charset="0"/>
                          <a:ea typeface="Calibri" pitchFamily="34" charset="-122"/>
                          <a:cs typeface="Calibri" pitchFamily="34" charset="-120"/>
                        </a:rPr>
                        <a:t>Mid</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336</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28.4</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113.2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74.2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7.80</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74.2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2"/>
                  </a:ext>
                </a:extLst>
              </a:tr>
              <a:tr h="377190">
                <a:tc>
                  <a:txBody>
                    <a:bodyPr/>
                    <a:lstStyle/>
                    <a:p>
                      <a:pPr marL="0" indent="0">
                        <a:buNone/>
                      </a:pPr>
                      <a:r>
                        <a:rPr lang="en-US" sz="1250" b="1" dirty="0">
                          <a:solidFill>
                            <a:srgbClr val="0F2A20"/>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272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36.2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124.2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85.1</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12.12</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76.7</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6446520" y="3703320"/>
            <a:ext cx="5166360" cy="1920240"/>
          </a:xfrm>
          <a:prstGeom prst="rect">
            <a:avLst/>
          </a:prstGeom>
          <a:noFill/>
          <a:ln/>
        </p:spPr>
        <p:txBody>
          <a:bodyPr wrap="square" lIns="0" tIns="0" rIns="0" bIns="0" rtlCol="0" anchor="ctr"/>
          <a:lstStyle/>
          <a:p>
            <a:pPr marL="0" indent="0">
              <a:lnSpc>
                <a:spcPct val="130000"/>
              </a:lnSpc>
              <a:buNone/>
            </a:pPr>
            <a:r>
              <a:rPr lang="en-US" sz="1300" dirty="0">
                <a:solidFill>
                  <a:srgbClr val="44554C"/>
                </a:solidFill>
                <a:latin typeface="Calibri" pitchFamily="34" charset="0"/>
                <a:ea typeface="Calibri" pitchFamily="34" charset="-122"/>
                <a:cs typeface="Calibri" pitchFamily="34" charset="-120"/>
              </a:rPr>
              <a:t>High-Risk patients are older, and show meaningfully higher blood pressure and blood sugar than Low-Risk patients. Not an extreme class imbalance, but large enough that accuracy alone won't tell the full story.</a:t>
            </a:r>
            <a:endParaRPr lang="en-US" sz="1300" dirty="0"/>
          </a:p>
        </p:txBody>
      </p:sp>
      <p:sp>
        <p:nvSpPr>
          <p:cNvPr id="8" name="Text 4"/>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9" name="Text 5"/>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EXPLORATORY DATA ANALYSIS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Blood Sugar — The Strongest Signal</a:t>
            </a:r>
            <a:endParaRPr lang="en-US" sz="3000" dirty="0"/>
          </a:p>
        </p:txBody>
      </p:sp>
      <p:pic>
        <p:nvPicPr>
          <p:cNvPr id="4" name="Image 0" descr="03_bloodsugar_by_risk.png"/>
          <p:cNvPicPr>
            <a:picLocks noChangeAspect="1"/>
          </p:cNvPicPr>
          <p:nvPr/>
        </p:nvPicPr>
        <p:blipFill>
          <a:blip r:embed="rId3"/>
          <a:srcRect/>
          <a:stretch/>
        </p:blipFill>
        <p:spPr>
          <a:xfrm>
            <a:off x="548640" y="1508760"/>
            <a:ext cx="6035040" cy="4480560"/>
          </a:xfrm>
          <a:prstGeom prst="rect">
            <a:avLst/>
          </a:prstGeom>
        </p:spPr>
      </p:pic>
      <p:sp>
        <p:nvSpPr>
          <p:cNvPr id="5" name="Text 2"/>
          <p:cNvSpPr/>
          <p:nvPr/>
        </p:nvSpPr>
        <p:spPr>
          <a:xfrm>
            <a:off x="6903720" y="1600200"/>
            <a:ext cx="4754880" cy="548640"/>
          </a:xfrm>
          <a:prstGeom prst="rect">
            <a:avLst/>
          </a:prstGeom>
          <a:noFill/>
          <a:ln/>
        </p:spPr>
        <p:txBody>
          <a:bodyPr wrap="square" lIns="0" tIns="0" rIns="0" bIns="0" rtlCol="0" anchor="ctr"/>
          <a:lstStyle/>
          <a:p>
            <a:pPr marL="0" indent="0">
              <a:buNone/>
            </a:pPr>
            <a:r>
              <a:rPr lang="en-US" sz="3000" b="1" dirty="0">
                <a:solidFill>
                  <a:srgbClr val="C0392B"/>
                </a:solidFill>
                <a:latin typeface="Cambria" pitchFamily="34" charset="0"/>
                <a:ea typeface="Cambria" pitchFamily="34" charset="-122"/>
                <a:cs typeface="Cambria" pitchFamily="34" charset="-120"/>
              </a:rPr>
              <a:t>12.12 mmol/L</a:t>
            </a:r>
            <a:endParaRPr lang="en-US" sz="3000" dirty="0"/>
          </a:p>
        </p:txBody>
      </p:sp>
      <p:sp>
        <p:nvSpPr>
          <p:cNvPr id="6" name="Text 3"/>
          <p:cNvSpPr/>
          <p:nvPr/>
        </p:nvSpPr>
        <p:spPr>
          <a:xfrm>
            <a:off x="6903720" y="2121408"/>
            <a:ext cx="4754880" cy="548640"/>
          </a:xfrm>
          <a:prstGeom prst="rect">
            <a:avLst/>
          </a:prstGeom>
          <a:noFill/>
          <a:ln/>
        </p:spPr>
        <p:txBody>
          <a:bodyPr wrap="square" lIns="0" tIns="0" rIns="0" bIns="0" rtlCol="0" anchor="ctr"/>
          <a:lstStyle/>
          <a:p>
            <a:pPr marL="0" indent="0">
              <a:lnSpc>
                <a:spcPct val="120000"/>
              </a:lnSpc>
              <a:buNone/>
            </a:pPr>
            <a:r>
              <a:rPr lang="en-US" sz="1250" dirty="0">
                <a:solidFill>
                  <a:srgbClr val="44554C"/>
                </a:solidFill>
                <a:latin typeface="Calibri" pitchFamily="34" charset="0"/>
                <a:ea typeface="Calibri" pitchFamily="34" charset="-122"/>
                <a:cs typeface="Calibri" pitchFamily="34" charset="-120"/>
              </a:rPr>
              <a:t>mean Blood Sugar in High Risk vs. 7.22 mmol/L in Low Risk</a:t>
            </a:r>
            <a:endParaRPr lang="en-US" sz="1250" dirty="0"/>
          </a:p>
        </p:txBody>
      </p:sp>
      <p:sp>
        <p:nvSpPr>
          <p:cNvPr id="7" name="Shape 4"/>
          <p:cNvSpPr/>
          <p:nvPr/>
        </p:nvSpPr>
        <p:spPr>
          <a:xfrm>
            <a:off x="6903720" y="2788920"/>
            <a:ext cx="4709160" cy="0"/>
          </a:xfrm>
          <a:prstGeom prst="line">
            <a:avLst/>
          </a:prstGeom>
          <a:noFill/>
          <a:ln w="12700">
            <a:solidFill>
              <a:srgbClr val="E4EEE9"/>
            </a:solidFill>
            <a:prstDash val="solid"/>
          </a:ln>
        </p:spPr>
      </p:sp>
      <p:sp>
        <p:nvSpPr>
          <p:cNvPr id="8" name="Shape 5"/>
          <p:cNvSpPr/>
          <p:nvPr/>
        </p:nvSpPr>
        <p:spPr>
          <a:xfrm>
            <a:off x="6903720" y="3072384"/>
            <a:ext cx="100584" cy="100584"/>
          </a:xfrm>
          <a:prstGeom prst="ellipse">
            <a:avLst/>
          </a:prstGeom>
          <a:solidFill>
            <a:srgbClr val="047857"/>
          </a:solidFill>
          <a:ln/>
        </p:spPr>
      </p:sp>
      <p:sp>
        <p:nvSpPr>
          <p:cNvPr id="9" name="Text 6"/>
          <p:cNvSpPr txBox="1"/>
          <p:nvPr/>
        </p:nvSpPr>
        <p:spPr>
          <a:xfrm>
            <a:off x="7178040" y="2944368"/>
            <a:ext cx="4572000" cy="86868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Threshold rule (BS ≥ 11 mmol/L): met by 62.5% of High-Risk patients, vs. only 1.0% of Low-Risk and 9.5% of Mid-Risk.</a:t>
            </a:r>
            <a:endParaRPr lang="en-US" sz="1250" dirty="0"/>
          </a:p>
        </p:txBody>
      </p:sp>
      <p:sp>
        <p:nvSpPr>
          <p:cNvPr id="10" name="Shape 7"/>
          <p:cNvSpPr/>
          <p:nvPr/>
        </p:nvSpPr>
        <p:spPr>
          <a:xfrm>
            <a:off x="6903720" y="3941064"/>
            <a:ext cx="100584" cy="100584"/>
          </a:xfrm>
          <a:prstGeom prst="ellipse">
            <a:avLst/>
          </a:prstGeom>
          <a:solidFill>
            <a:srgbClr val="047857"/>
          </a:solidFill>
          <a:ln/>
        </p:spPr>
      </p:sp>
      <p:sp>
        <p:nvSpPr>
          <p:cNvPr id="11" name="Text 8"/>
          <p:cNvSpPr txBox="1"/>
          <p:nvPr/>
        </p:nvSpPr>
        <p:spPr>
          <a:xfrm>
            <a:off x="7178040" y="3813048"/>
            <a:ext cx="4572000" cy="86868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Standard deviation widens sharply with risk: 0.64 (Low) → 2.28 (Mid) → 4.17 (High).</a:t>
            </a:r>
            <a:endParaRPr lang="en-US" sz="1250" dirty="0"/>
          </a:p>
        </p:txBody>
      </p:sp>
      <p:sp>
        <p:nvSpPr>
          <p:cNvPr id="12" name="Shape 9"/>
          <p:cNvSpPr/>
          <p:nvPr/>
        </p:nvSpPr>
        <p:spPr>
          <a:xfrm>
            <a:off x="6903720" y="4809744"/>
            <a:ext cx="100584" cy="100584"/>
          </a:xfrm>
          <a:prstGeom prst="ellipse">
            <a:avLst/>
          </a:prstGeom>
          <a:solidFill>
            <a:srgbClr val="047857"/>
          </a:solidFill>
          <a:ln/>
        </p:spPr>
      </p:sp>
      <p:sp>
        <p:nvSpPr>
          <p:cNvPr id="13" name="Text 10"/>
          <p:cNvSpPr txBox="1"/>
          <p:nvPr/>
        </p:nvSpPr>
        <p:spPr>
          <a:xfrm>
            <a:off x="7178040" y="4681728"/>
            <a:ext cx="4572000" cy="86868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This shows strong statistical association — not proof that blood sugar causes the assigned risk label.</a:t>
            </a:r>
            <a:endParaRPr lang="en-US" sz="1250" dirty="0"/>
          </a:p>
        </p:txBody>
      </p:sp>
      <p:sp>
        <p:nvSpPr>
          <p:cNvPr id="14" name="Text 11"/>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5" name="Text 12"/>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EXPLORATORY DATA ANALYSIS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Blood Pressure, Age &amp; Heart Rate</a:t>
            </a:r>
            <a:endParaRPr lang="en-US" sz="3000" dirty="0"/>
          </a:p>
        </p:txBody>
      </p:sp>
      <p:pic>
        <p:nvPicPr>
          <p:cNvPr id="4" name="Image 0" descr="04_bloodpressure_by_risk.png"/>
          <p:cNvPicPr>
            <a:picLocks noChangeAspect="1"/>
          </p:cNvPicPr>
          <p:nvPr/>
        </p:nvPicPr>
        <p:blipFill>
          <a:blip r:embed="rId3"/>
          <a:srcRect/>
          <a:stretch/>
        </p:blipFill>
        <p:spPr>
          <a:xfrm>
            <a:off x="502920" y="1508760"/>
            <a:ext cx="5806440" cy="3246120"/>
          </a:xfrm>
          <a:prstGeom prst="rect">
            <a:avLst/>
          </a:prstGeom>
        </p:spPr>
      </p:pic>
      <p:pic>
        <p:nvPicPr>
          <p:cNvPr id="5" name="Image 1" descr="02_age_by_risk.png"/>
          <p:cNvPicPr>
            <a:picLocks noChangeAspect="1"/>
          </p:cNvPicPr>
          <p:nvPr/>
        </p:nvPicPr>
        <p:blipFill>
          <a:blip r:embed="rId4"/>
          <a:srcRect/>
          <a:stretch/>
        </p:blipFill>
        <p:spPr>
          <a:xfrm>
            <a:off x="6446520" y="1508760"/>
            <a:ext cx="2788920" cy="3246120"/>
          </a:xfrm>
          <a:prstGeom prst="rect">
            <a:avLst/>
          </a:prstGeom>
        </p:spPr>
      </p:pic>
      <p:pic>
        <p:nvPicPr>
          <p:cNvPr id="6" name="Image 2" descr="06_heartrate_by_risk.png"/>
          <p:cNvPicPr>
            <a:picLocks noChangeAspect="1"/>
          </p:cNvPicPr>
          <p:nvPr/>
        </p:nvPicPr>
        <p:blipFill>
          <a:blip r:embed="rId5"/>
          <a:srcRect/>
          <a:stretch/>
        </p:blipFill>
        <p:spPr>
          <a:xfrm>
            <a:off x="9326880" y="1508760"/>
            <a:ext cx="2331720" cy="3246120"/>
          </a:xfrm>
          <a:prstGeom prst="rect">
            <a:avLst/>
          </a:prstGeom>
        </p:spPr>
      </p:pic>
      <p:sp>
        <p:nvSpPr>
          <p:cNvPr id="7" name="Shape 2"/>
          <p:cNvSpPr/>
          <p:nvPr/>
        </p:nvSpPr>
        <p:spPr>
          <a:xfrm>
            <a:off x="502920" y="4892040"/>
            <a:ext cx="11155680" cy="1417320"/>
          </a:xfrm>
          <a:prstGeom prst="rect">
            <a:avLst/>
          </a:prstGeom>
          <a:solidFill>
            <a:srgbClr val="ECFDF5"/>
          </a:solidFill>
          <a:ln/>
        </p:spPr>
      </p:sp>
      <p:sp>
        <p:nvSpPr>
          <p:cNvPr id="8" name="Text 3"/>
          <p:cNvSpPr/>
          <p:nvPr/>
        </p:nvSpPr>
        <p:spPr>
          <a:xfrm>
            <a:off x="822960" y="5029200"/>
            <a:ext cx="10515600" cy="1143000"/>
          </a:xfrm>
          <a:prstGeom prst="rect">
            <a:avLst/>
          </a:prstGeom>
          <a:noFill/>
          <a:ln/>
        </p:spPr>
        <p:txBody>
          <a:bodyPr wrap="square" lIns="0" tIns="0" rIns="0" bIns="0" rtlCol="0" anchor="ctr"/>
          <a:lstStyle/>
          <a:p>
            <a:pPr marL="0" indent="0">
              <a:lnSpc>
                <a:spcPct val="130000"/>
              </a:lnSpc>
              <a:buNone/>
            </a:pPr>
            <a:r>
              <a:rPr lang="en-US" sz="1300" dirty="0">
                <a:solidFill>
                  <a:srgbClr val="0F2A20"/>
                </a:solidFill>
                <a:latin typeface="Calibri" pitchFamily="34" charset="0"/>
                <a:ea typeface="Calibri" pitchFamily="34" charset="-122"/>
                <a:cs typeface="Calibri" pitchFamily="34" charset="-120"/>
              </a:rPr>
              <a:t>Systolic BP rises from 105.8 mmHg (Low) to 124.2 mmHg (High); diastolic from 72.5 to 85.1 mmHg — but Low and Mid overlap substantially. Age shifts upward (26.9 → 36.2 years) yet stays heterogeneous. Heart Rate shows the weakest separation of any variable (73.1 / 74.2 / 76.7 bpm) — no single variable is a perfect classifier on its own.</a:t>
            </a:r>
            <a:endParaRPr lang="en-US" sz="1300" dirty="0"/>
          </a:p>
        </p:txBody>
      </p:sp>
      <p:sp>
        <p:nvSpPr>
          <p:cNvPr id="9" name="Text 4"/>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0" name="Text 5"/>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EXPLORATORY DATA ANALYSIS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Joint Relationship: Blood Sugar × Systolic BP</a:t>
            </a:r>
            <a:endParaRPr lang="en-US" sz="3000" dirty="0"/>
          </a:p>
        </p:txBody>
      </p:sp>
      <p:pic>
        <p:nvPicPr>
          <p:cNvPr id="4" name="Image 0" descr="05_scatter_bs_vs_systolicbp.png"/>
          <p:cNvPicPr>
            <a:picLocks noChangeAspect="1"/>
          </p:cNvPicPr>
          <p:nvPr/>
        </p:nvPicPr>
        <p:blipFill>
          <a:blip r:embed="rId3"/>
          <a:srcRect/>
          <a:stretch/>
        </p:blipFill>
        <p:spPr>
          <a:xfrm>
            <a:off x="548640" y="1508760"/>
            <a:ext cx="6675120" cy="4480560"/>
          </a:xfrm>
          <a:prstGeom prst="rect">
            <a:avLst/>
          </a:prstGeom>
        </p:spPr>
      </p:pic>
      <p:sp>
        <p:nvSpPr>
          <p:cNvPr id="5" name="Shape 2"/>
          <p:cNvSpPr/>
          <p:nvPr/>
        </p:nvSpPr>
        <p:spPr>
          <a:xfrm>
            <a:off x="7543800" y="1792224"/>
            <a:ext cx="100584" cy="100584"/>
          </a:xfrm>
          <a:prstGeom prst="ellipse">
            <a:avLst/>
          </a:prstGeom>
          <a:solidFill>
            <a:srgbClr val="047857"/>
          </a:solidFill>
          <a:ln/>
        </p:spPr>
      </p:sp>
      <p:sp>
        <p:nvSpPr>
          <p:cNvPr id="6" name="Text 3"/>
          <p:cNvSpPr txBox="1"/>
          <p:nvPr/>
        </p:nvSpPr>
        <p:spPr>
          <a:xfrm>
            <a:off x="7818120" y="1664208"/>
            <a:ext cx="3840480" cy="1234440"/>
          </a:xfrm>
          <a:prstGeom prst="rect">
            <a:avLst/>
          </a:prstGeom>
          <a:noFill/>
          <a:ln/>
        </p:spPr>
        <p:txBody>
          <a:bodyPr wrap="square" lIns="0" tIns="0" rIns="0" bIns="0" rtlCol="0" anchor="t"/>
          <a:lstStyle/>
          <a:p>
            <a:pPr marL="0" indent="0">
              <a:buNone/>
            </a:pPr>
            <a:r>
              <a:rPr lang="en-US" sz="1300" dirty="0">
                <a:solidFill>
                  <a:srgbClr val="0F2A20"/>
                </a:solidFill>
                <a:latin typeface="Calibri" pitchFamily="34" charset="0"/>
                <a:ea typeface="Calibri" pitchFamily="34" charset="-122"/>
                <a:cs typeface="Calibri" pitchFamily="34" charset="-120"/>
              </a:rPr>
              <a:t>High-Risk points concentrate toward higher values of both Blood Sugar and Systolic BP.</a:t>
            </a:r>
            <a:endParaRPr lang="en-US" sz="1300" dirty="0"/>
          </a:p>
        </p:txBody>
      </p:sp>
      <p:sp>
        <p:nvSpPr>
          <p:cNvPr id="7" name="Shape 4"/>
          <p:cNvSpPr/>
          <p:nvPr/>
        </p:nvSpPr>
        <p:spPr>
          <a:xfrm>
            <a:off x="7543800" y="3026664"/>
            <a:ext cx="100584" cy="100584"/>
          </a:xfrm>
          <a:prstGeom prst="ellipse">
            <a:avLst/>
          </a:prstGeom>
          <a:solidFill>
            <a:srgbClr val="047857"/>
          </a:solidFill>
          <a:ln/>
        </p:spPr>
      </p:sp>
      <p:sp>
        <p:nvSpPr>
          <p:cNvPr id="8" name="Text 5"/>
          <p:cNvSpPr txBox="1"/>
          <p:nvPr/>
        </p:nvSpPr>
        <p:spPr>
          <a:xfrm>
            <a:off x="7818120" y="2898648"/>
            <a:ext cx="3840480" cy="1234440"/>
          </a:xfrm>
          <a:prstGeom prst="rect">
            <a:avLst/>
          </a:prstGeom>
          <a:noFill/>
          <a:ln/>
        </p:spPr>
        <p:txBody>
          <a:bodyPr wrap="square" lIns="0" tIns="0" rIns="0" bIns="0" rtlCol="0" anchor="t"/>
          <a:lstStyle/>
          <a:p>
            <a:pPr marL="0" indent="0">
              <a:buNone/>
            </a:pPr>
            <a:r>
              <a:rPr lang="en-US" sz="1300" dirty="0">
                <a:solidFill>
                  <a:srgbClr val="0F2A20"/>
                </a:solidFill>
                <a:latin typeface="Calibri" pitchFamily="34" charset="0"/>
                <a:ea typeface="Calibri" pitchFamily="34" charset="-122"/>
                <a:cs typeface="Calibri" pitchFamily="34" charset="-120"/>
              </a:rPr>
              <a:t>No clean boundary separates the classes — a bivariate view still leaves overlap.</a:t>
            </a:r>
            <a:endParaRPr lang="en-US" sz="1300" dirty="0"/>
          </a:p>
        </p:txBody>
      </p:sp>
      <p:sp>
        <p:nvSpPr>
          <p:cNvPr id="9" name="Shape 6"/>
          <p:cNvSpPr/>
          <p:nvPr/>
        </p:nvSpPr>
        <p:spPr>
          <a:xfrm>
            <a:off x="7543800" y="4261104"/>
            <a:ext cx="100584" cy="100584"/>
          </a:xfrm>
          <a:prstGeom prst="ellipse">
            <a:avLst/>
          </a:prstGeom>
          <a:solidFill>
            <a:srgbClr val="047857"/>
          </a:solidFill>
          <a:ln/>
        </p:spPr>
      </p:sp>
      <p:sp>
        <p:nvSpPr>
          <p:cNvPr id="10" name="Text 7"/>
          <p:cNvSpPr txBox="1"/>
          <p:nvPr/>
        </p:nvSpPr>
        <p:spPr>
          <a:xfrm>
            <a:off x="7818120" y="4133088"/>
            <a:ext cx="3840480" cy="1234440"/>
          </a:xfrm>
          <a:prstGeom prst="rect">
            <a:avLst/>
          </a:prstGeom>
          <a:noFill/>
          <a:ln/>
        </p:spPr>
        <p:txBody>
          <a:bodyPr wrap="square" lIns="0" tIns="0" rIns="0" bIns="0" rtlCol="0" anchor="t"/>
          <a:lstStyle/>
          <a:p>
            <a:pPr marL="0" indent="0">
              <a:buNone/>
            </a:pPr>
            <a:r>
              <a:rPr lang="en-US" sz="1300" dirty="0">
                <a:solidFill>
                  <a:srgbClr val="0F2A20"/>
                </a:solidFill>
                <a:latin typeface="Calibri" pitchFamily="34" charset="0"/>
                <a:ea typeface="Calibri" pitchFamily="34" charset="-122"/>
                <a:cs typeface="Calibri" pitchFamily="34" charset="-120"/>
              </a:rPr>
              <a:t>The RiskLevel label may itself be partly derived from BP/BS thresholds, so a model built on these features may partly reproduce the labeling rule rather than discover new clinical mechanisms.</a:t>
            </a:r>
            <a:endParaRPr lang="en-US" sz="1300" dirty="0"/>
          </a:p>
        </p:txBody>
      </p:sp>
      <p:sp>
        <p:nvSpPr>
          <p:cNvPr id="11" name="Text 8"/>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2" name="Text 9"/>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332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METHODS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Reproducible Analytical Pipeline</a:t>
            </a:r>
            <a:endParaRPr lang="en-US" sz="3000" dirty="0"/>
          </a:p>
        </p:txBody>
      </p:sp>
      <p:sp>
        <p:nvSpPr>
          <p:cNvPr id="4" name="Text 2"/>
          <p:cNvSpPr/>
          <p:nvPr/>
        </p:nvSpPr>
        <p:spPr>
          <a:xfrm>
            <a:off x="548640" y="1371600"/>
            <a:ext cx="10515600" cy="365760"/>
          </a:xfrm>
          <a:prstGeom prst="rect">
            <a:avLst/>
          </a:prstGeom>
          <a:noFill/>
          <a:ln/>
        </p:spPr>
        <p:txBody>
          <a:bodyPr wrap="square" lIns="0" tIns="0" rIns="0" bIns="0" rtlCol="0" anchor="ctr"/>
          <a:lstStyle/>
          <a:p>
            <a:pPr marL="0" indent="0">
              <a:buNone/>
            </a:pPr>
            <a:r>
              <a:rPr lang="en-US" sz="1350" i="1" dirty="0">
                <a:solidFill>
                  <a:srgbClr val="D1FAE5"/>
                </a:solidFill>
                <a:latin typeface="Calibri" pitchFamily="34" charset="0"/>
                <a:ea typeface="Calibri" pitchFamily="34" charset="-122"/>
                <a:cs typeface="Calibri" pitchFamily="34" charset="-120"/>
              </a:rPr>
              <a:t>Implemented in Python, supplemented by a SQLite SQL layer — same 1,012-row dataset, two ways.</a:t>
            </a:r>
            <a:endParaRPr lang="en-US" sz="1350" dirty="0"/>
          </a:p>
        </p:txBody>
      </p:sp>
      <p:sp>
        <p:nvSpPr>
          <p:cNvPr id="5" name="Shape 3"/>
          <p:cNvSpPr/>
          <p:nvPr/>
        </p:nvSpPr>
        <p:spPr>
          <a:xfrm>
            <a:off x="548640" y="1965960"/>
            <a:ext cx="457200" cy="457200"/>
          </a:xfrm>
          <a:prstGeom prst="roundRect">
            <a:avLst>
              <a:gd name="adj" fmla="val 18000"/>
            </a:avLst>
          </a:prstGeom>
          <a:solidFill>
            <a:srgbClr val="047857"/>
          </a:solidFill>
          <a:ln/>
        </p:spPr>
      </p:sp>
      <p:sp>
        <p:nvSpPr>
          <p:cNvPr id="6" name="Text 4"/>
          <p:cNvSpPr/>
          <p:nvPr/>
        </p:nvSpPr>
        <p:spPr>
          <a:xfrm>
            <a:off x="54864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143000" y="1938528"/>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Load UTF-8 CSV &amp; normalize categorical labels</a:t>
            </a:r>
            <a:endParaRPr lang="en-US" sz="1300" dirty="0"/>
          </a:p>
        </p:txBody>
      </p:sp>
      <p:sp>
        <p:nvSpPr>
          <p:cNvPr id="8" name="Shape 6"/>
          <p:cNvSpPr/>
          <p:nvPr/>
        </p:nvSpPr>
        <p:spPr>
          <a:xfrm>
            <a:off x="548640" y="2752344"/>
            <a:ext cx="457200" cy="457200"/>
          </a:xfrm>
          <a:prstGeom prst="roundRect">
            <a:avLst>
              <a:gd name="adj" fmla="val 18000"/>
            </a:avLst>
          </a:prstGeom>
          <a:solidFill>
            <a:srgbClr val="047857"/>
          </a:solidFill>
          <a:ln/>
        </p:spPr>
      </p:sp>
      <p:sp>
        <p:nvSpPr>
          <p:cNvPr id="9" name="Text 7"/>
          <p:cNvSpPr/>
          <p:nvPr/>
        </p:nvSpPr>
        <p:spPr>
          <a:xfrm>
            <a:off x="548640" y="27523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143000" y="2724912"/>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Audit missingness, duplicates, implausible values</a:t>
            </a:r>
            <a:endParaRPr lang="en-US" sz="1300" dirty="0"/>
          </a:p>
        </p:txBody>
      </p:sp>
      <p:sp>
        <p:nvSpPr>
          <p:cNvPr id="11" name="Shape 9"/>
          <p:cNvSpPr/>
          <p:nvPr/>
        </p:nvSpPr>
        <p:spPr>
          <a:xfrm>
            <a:off x="548640" y="3538728"/>
            <a:ext cx="457200" cy="457200"/>
          </a:xfrm>
          <a:prstGeom prst="roundRect">
            <a:avLst>
              <a:gd name="adj" fmla="val 18000"/>
            </a:avLst>
          </a:prstGeom>
          <a:solidFill>
            <a:srgbClr val="047857"/>
          </a:solidFill>
          <a:ln/>
        </p:spPr>
      </p:sp>
      <p:sp>
        <p:nvSpPr>
          <p:cNvPr id="12" name="Text 10"/>
          <p:cNvSpPr/>
          <p:nvPr/>
        </p:nvSpPr>
        <p:spPr>
          <a:xfrm>
            <a:off x="548640" y="35387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3" name="Text 11"/>
          <p:cNvSpPr/>
          <p:nvPr/>
        </p:nvSpPr>
        <p:spPr>
          <a:xfrm>
            <a:off x="1143000" y="3511296"/>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Remove only the 2 implausible HeartRate rows</a:t>
            </a:r>
            <a:endParaRPr lang="en-US" sz="1300" dirty="0"/>
          </a:p>
        </p:txBody>
      </p:sp>
      <p:sp>
        <p:nvSpPr>
          <p:cNvPr id="14" name="Shape 12"/>
          <p:cNvSpPr/>
          <p:nvPr/>
        </p:nvSpPr>
        <p:spPr>
          <a:xfrm>
            <a:off x="548640" y="4325112"/>
            <a:ext cx="457200" cy="457200"/>
          </a:xfrm>
          <a:prstGeom prst="roundRect">
            <a:avLst>
              <a:gd name="adj" fmla="val 18000"/>
            </a:avLst>
          </a:prstGeom>
          <a:solidFill>
            <a:srgbClr val="047857"/>
          </a:solidFill>
          <a:ln/>
        </p:spPr>
      </p:sp>
      <p:sp>
        <p:nvSpPr>
          <p:cNvPr id="15" name="Text 13"/>
          <p:cNvSpPr/>
          <p:nvPr/>
        </p:nvSpPr>
        <p:spPr>
          <a:xfrm>
            <a:off x="548640" y="432511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6" name="Text 14"/>
          <p:cNvSpPr/>
          <p:nvPr/>
        </p:nvSpPr>
        <p:spPr>
          <a:xfrm>
            <a:off x="1143000" y="4297680"/>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Compute descriptive statistics by RiskLevel</a:t>
            </a:r>
            <a:endParaRPr lang="en-US" sz="1300" dirty="0"/>
          </a:p>
        </p:txBody>
      </p:sp>
      <p:sp>
        <p:nvSpPr>
          <p:cNvPr id="17" name="Shape 15"/>
          <p:cNvSpPr/>
          <p:nvPr/>
        </p:nvSpPr>
        <p:spPr>
          <a:xfrm>
            <a:off x="548640" y="5111496"/>
            <a:ext cx="457200" cy="457200"/>
          </a:xfrm>
          <a:prstGeom prst="roundRect">
            <a:avLst>
              <a:gd name="adj" fmla="val 18000"/>
            </a:avLst>
          </a:prstGeom>
          <a:solidFill>
            <a:srgbClr val="047857"/>
          </a:solidFill>
          <a:ln/>
        </p:spPr>
      </p:sp>
      <p:sp>
        <p:nvSpPr>
          <p:cNvPr id="18" name="Text 16"/>
          <p:cNvSpPr/>
          <p:nvPr/>
        </p:nvSpPr>
        <p:spPr>
          <a:xfrm>
            <a:off x="548640" y="511149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9" name="Text 17"/>
          <p:cNvSpPr/>
          <p:nvPr/>
        </p:nvSpPr>
        <p:spPr>
          <a:xfrm>
            <a:off x="1143000" y="5084064"/>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Produce distribution, boxplot &amp; scatter figures</a:t>
            </a:r>
            <a:endParaRPr lang="en-US" sz="1300" dirty="0"/>
          </a:p>
        </p:txBody>
      </p:sp>
      <p:sp>
        <p:nvSpPr>
          <p:cNvPr id="20" name="Shape 18"/>
          <p:cNvSpPr/>
          <p:nvPr/>
        </p:nvSpPr>
        <p:spPr>
          <a:xfrm>
            <a:off x="6355080" y="1965960"/>
            <a:ext cx="457200" cy="457200"/>
          </a:xfrm>
          <a:prstGeom prst="roundRect">
            <a:avLst>
              <a:gd name="adj" fmla="val 18000"/>
            </a:avLst>
          </a:prstGeom>
          <a:solidFill>
            <a:srgbClr val="047857"/>
          </a:solidFill>
          <a:ln/>
        </p:spPr>
      </p:sp>
      <p:sp>
        <p:nvSpPr>
          <p:cNvPr id="21" name="Text 19"/>
          <p:cNvSpPr/>
          <p:nvPr/>
        </p:nvSpPr>
        <p:spPr>
          <a:xfrm>
            <a:off x="6355080" y="19659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2" name="Text 20"/>
          <p:cNvSpPr/>
          <p:nvPr/>
        </p:nvSpPr>
        <p:spPr>
          <a:xfrm>
            <a:off x="6949440" y="1938528"/>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80/20 stratified train/test split (random_state=42)</a:t>
            </a:r>
            <a:endParaRPr lang="en-US" sz="1300" dirty="0"/>
          </a:p>
        </p:txBody>
      </p:sp>
      <p:sp>
        <p:nvSpPr>
          <p:cNvPr id="23" name="Shape 21"/>
          <p:cNvSpPr/>
          <p:nvPr/>
        </p:nvSpPr>
        <p:spPr>
          <a:xfrm>
            <a:off x="6355080" y="2752344"/>
            <a:ext cx="457200" cy="457200"/>
          </a:xfrm>
          <a:prstGeom prst="roundRect">
            <a:avLst>
              <a:gd name="adj" fmla="val 18000"/>
            </a:avLst>
          </a:prstGeom>
          <a:solidFill>
            <a:srgbClr val="047857"/>
          </a:solidFill>
          <a:ln/>
        </p:spPr>
      </p:sp>
      <p:sp>
        <p:nvSpPr>
          <p:cNvPr id="24" name="Text 22"/>
          <p:cNvSpPr/>
          <p:nvPr/>
        </p:nvSpPr>
        <p:spPr>
          <a:xfrm>
            <a:off x="6355080" y="27523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25" name="Text 23"/>
          <p:cNvSpPr/>
          <p:nvPr/>
        </p:nvSpPr>
        <p:spPr>
          <a:xfrm>
            <a:off x="6949440" y="2724912"/>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Fit StandardScaler on training data only</a:t>
            </a:r>
            <a:endParaRPr lang="en-US" sz="1300" dirty="0"/>
          </a:p>
        </p:txBody>
      </p:sp>
      <p:sp>
        <p:nvSpPr>
          <p:cNvPr id="26" name="Shape 24"/>
          <p:cNvSpPr/>
          <p:nvPr/>
        </p:nvSpPr>
        <p:spPr>
          <a:xfrm>
            <a:off x="6355080" y="3538728"/>
            <a:ext cx="457200" cy="457200"/>
          </a:xfrm>
          <a:prstGeom prst="roundRect">
            <a:avLst>
              <a:gd name="adj" fmla="val 18000"/>
            </a:avLst>
          </a:prstGeom>
          <a:solidFill>
            <a:srgbClr val="047857"/>
          </a:solidFill>
          <a:ln/>
        </p:spPr>
      </p:sp>
      <p:sp>
        <p:nvSpPr>
          <p:cNvPr id="27" name="Text 25"/>
          <p:cNvSpPr/>
          <p:nvPr/>
        </p:nvSpPr>
        <p:spPr>
          <a:xfrm>
            <a:off x="6355080" y="35387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28" name="Text 26"/>
          <p:cNvSpPr/>
          <p:nvPr/>
        </p:nvSpPr>
        <p:spPr>
          <a:xfrm>
            <a:off x="6949440" y="3511296"/>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Train multinomial Logistic Regression + Decision Tree</a:t>
            </a:r>
            <a:endParaRPr lang="en-US" sz="1300" dirty="0"/>
          </a:p>
        </p:txBody>
      </p:sp>
      <p:sp>
        <p:nvSpPr>
          <p:cNvPr id="29" name="Shape 27"/>
          <p:cNvSpPr/>
          <p:nvPr/>
        </p:nvSpPr>
        <p:spPr>
          <a:xfrm>
            <a:off x="6355080" y="4325112"/>
            <a:ext cx="457200" cy="457200"/>
          </a:xfrm>
          <a:prstGeom prst="roundRect">
            <a:avLst>
              <a:gd name="adj" fmla="val 18000"/>
            </a:avLst>
          </a:prstGeom>
          <a:solidFill>
            <a:srgbClr val="047857"/>
          </a:solidFill>
          <a:ln/>
        </p:spPr>
      </p:sp>
      <p:sp>
        <p:nvSpPr>
          <p:cNvPr id="30" name="Text 28"/>
          <p:cNvSpPr/>
          <p:nvPr/>
        </p:nvSpPr>
        <p:spPr>
          <a:xfrm>
            <a:off x="6355080" y="432511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31" name="Text 29"/>
          <p:cNvSpPr/>
          <p:nvPr/>
        </p:nvSpPr>
        <p:spPr>
          <a:xfrm>
            <a:off x="6949440" y="4297680"/>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Evaluate via confusion matrices, precision/recall/F1</a:t>
            </a:r>
            <a:endParaRPr lang="en-US" sz="1300" dirty="0"/>
          </a:p>
        </p:txBody>
      </p:sp>
      <p:sp>
        <p:nvSpPr>
          <p:cNvPr id="32" name="Shape 30"/>
          <p:cNvSpPr/>
          <p:nvPr/>
        </p:nvSpPr>
        <p:spPr>
          <a:xfrm>
            <a:off x="6355080" y="5111496"/>
            <a:ext cx="457200" cy="457200"/>
          </a:xfrm>
          <a:prstGeom prst="roundRect">
            <a:avLst>
              <a:gd name="adj" fmla="val 18000"/>
            </a:avLst>
          </a:prstGeom>
          <a:solidFill>
            <a:srgbClr val="047857"/>
          </a:solidFill>
          <a:ln/>
        </p:spPr>
      </p:sp>
      <p:sp>
        <p:nvSpPr>
          <p:cNvPr id="33" name="Text 31"/>
          <p:cNvSpPr/>
          <p:nvPr/>
        </p:nvSpPr>
        <p:spPr>
          <a:xfrm>
            <a:off x="6355080" y="511149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34" name="Text 32"/>
          <p:cNvSpPr/>
          <p:nvPr/>
        </p:nvSpPr>
        <p:spPr>
          <a:xfrm>
            <a:off x="6949440" y="5084064"/>
            <a:ext cx="4754880" cy="548640"/>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Select final model: High-Risk Recall, then macro F1</a:t>
            </a:r>
            <a:endParaRPr lang="en-US" sz="1300" dirty="0"/>
          </a:p>
        </p:txBody>
      </p:sp>
      <p:sp>
        <p:nvSpPr>
          <p:cNvPr id="35" name="Text 3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BFEAD8"/>
                </a:solidFill>
                <a:latin typeface="Calibri" pitchFamily="34" charset="0"/>
                <a:ea typeface="Calibri" pitchFamily="34" charset="-122"/>
                <a:cs typeface="Calibri" pitchFamily="34" charset="-120"/>
              </a:rPr>
              <a:t>Maternal Health Risk Stratification</a:t>
            </a:r>
            <a:endParaRPr lang="en-US" sz="900" dirty="0"/>
          </a:p>
        </p:txBody>
      </p:sp>
      <p:sp>
        <p:nvSpPr>
          <p:cNvPr id="36" name="Text 34"/>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BFEAD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SQL ANALYSIS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Reproducibility with SQLite</a:t>
            </a:r>
            <a:endParaRPr lang="en-US" sz="3000" dirty="0"/>
          </a:p>
        </p:txBody>
      </p:sp>
      <p:sp>
        <p:nvSpPr>
          <p:cNvPr id="4" name="Text 2"/>
          <p:cNvSpPr/>
          <p:nvPr/>
        </p:nvSpPr>
        <p:spPr>
          <a:xfrm>
            <a:off x="548640" y="1417320"/>
            <a:ext cx="11064240" cy="502920"/>
          </a:xfrm>
          <a:prstGeom prst="rect">
            <a:avLst/>
          </a:prstGeom>
          <a:noFill/>
          <a:ln/>
        </p:spPr>
        <p:txBody>
          <a:bodyPr wrap="square" lIns="0" tIns="0" rIns="0" bIns="0" rtlCol="0" anchor="ctr"/>
          <a:lstStyle/>
          <a:p>
            <a:pPr marL="0" indent="0">
              <a:lnSpc>
                <a:spcPct val="125000"/>
              </a:lnSpc>
              <a:buNone/>
            </a:pPr>
            <a:r>
              <a:rPr lang="en-US" sz="1300" dirty="0">
                <a:solidFill>
                  <a:srgbClr val="44554C"/>
                </a:solidFill>
                <a:latin typeface="Calibri" pitchFamily="34" charset="0"/>
                <a:ea typeface="Calibri" pitchFamily="34" charset="-122"/>
                <a:cs typeface="Calibri" pitchFamily="34" charset="-120"/>
              </a:rPr>
              <a:t>Nine documented queries reproduce the class distribution, group summaries, and threshold checks directly against the cleaned 1,012-row table — no pandas required.</a:t>
            </a:r>
            <a:endParaRPr lang="en-US" sz="1300" dirty="0"/>
          </a:p>
        </p:txBody>
      </p:sp>
      <p:sp>
        <p:nvSpPr>
          <p:cNvPr id="5" name="Shape 3"/>
          <p:cNvSpPr/>
          <p:nvPr/>
        </p:nvSpPr>
        <p:spPr>
          <a:xfrm>
            <a:off x="548640" y="2103120"/>
            <a:ext cx="6583680" cy="3977640"/>
          </a:xfrm>
          <a:prstGeom prst="rect">
            <a:avLst/>
          </a:prstGeom>
          <a:solidFill>
            <a:srgbClr val="0D2A20"/>
          </a:solidFill>
          <a:ln/>
        </p:spPr>
      </p:sp>
      <p:sp>
        <p:nvSpPr>
          <p:cNvPr id="6" name="Text 4"/>
          <p:cNvSpPr/>
          <p:nvPr/>
        </p:nvSpPr>
        <p:spPr>
          <a:xfrm>
            <a:off x="777240" y="2286000"/>
            <a:ext cx="6172200" cy="3657600"/>
          </a:xfrm>
          <a:prstGeom prst="rect">
            <a:avLst/>
          </a:prstGeom>
          <a:noFill/>
          <a:ln/>
        </p:spPr>
        <p:txBody>
          <a:bodyPr wrap="square" lIns="0" tIns="0" rIns="0" bIns="0" rtlCol="0" anchor="t"/>
          <a:lstStyle/>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Group summaries: mean of every clinical variable by RiskLevel</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SELECT</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RiskLevel,</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COUNT(*)                   AS n,</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ROUND(AVG(Age), 1)         AS avg_age,</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ROUND(AVG(SystolicBP), 1)  AS avg_systolic_bp,</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ROUND(AVG(BS), 2)          AS avg_blood_sugar</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FROM maternal_health</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GROUP BY RiskLevel</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ORDER BY</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CASE RiskLevel</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WHEN 'low risk' THEN 1</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WHEN 'mid risk' THEN 2</a:t>
            </a:r>
            <a:endParaRPr lang="en-US" sz="1150" dirty="0"/>
          </a:p>
          <a:p>
            <a:pPr marL="0" indent="0">
              <a:lnSpc>
                <a:spcPct val="115000"/>
              </a:lnSpc>
              <a:buNone/>
            </a:pPr>
            <a:r>
              <a:rPr lang="en-US" sz="1150" dirty="0">
                <a:solidFill>
                  <a:srgbClr val="BFEFDD"/>
                </a:solidFill>
                <a:latin typeface="Courier New" pitchFamily="34" charset="0"/>
                <a:ea typeface="Courier New" pitchFamily="34" charset="-122"/>
                <a:cs typeface="Courier New" pitchFamily="34" charset="-120"/>
              </a:rPr>
              <a:t>      WHEN 'high risk' THEN 3 END;</a:t>
            </a:r>
            <a:endParaRPr lang="en-US" sz="1150" dirty="0"/>
          </a:p>
        </p:txBody>
      </p:sp>
      <p:sp>
        <p:nvSpPr>
          <p:cNvPr id="7" name="Text 5"/>
          <p:cNvSpPr/>
          <p:nvPr/>
        </p:nvSpPr>
        <p:spPr>
          <a:xfrm>
            <a:off x="7360920" y="2103120"/>
            <a:ext cx="4297680" cy="320040"/>
          </a:xfrm>
          <a:prstGeom prst="rect">
            <a:avLst/>
          </a:prstGeom>
          <a:noFill/>
          <a:ln/>
        </p:spPr>
        <p:txBody>
          <a:bodyPr wrap="square" lIns="0" tIns="0" rIns="0" bIns="0" rtlCol="0" anchor="ctr"/>
          <a:lstStyle/>
          <a:p>
            <a:pPr marL="0" indent="0">
              <a:buNone/>
            </a:pPr>
            <a:r>
              <a:rPr lang="en-US" sz="1500" b="1" dirty="0">
                <a:solidFill>
                  <a:srgbClr val="0F2A20"/>
                </a:solidFill>
                <a:latin typeface="Cambria" pitchFamily="34" charset="0"/>
                <a:ea typeface="Cambria" pitchFamily="34" charset="-122"/>
                <a:cs typeface="Cambria" pitchFamily="34" charset="-120"/>
              </a:rPr>
              <a:t>Threshold finding (Q3a)</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60920" y="2514600"/>
          <a:ext cx="4297680" cy="1371600"/>
        </p:xfrm>
        <a:graphic>
          <a:graphicData uri="http://schemas.openxmlformats.org/drawingml/2006/table">
            <a:tbl>
              <a:tblPr/>
              <a:tblGrid>
                <a:gridCol w="143256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1432560">
                  <a:extLst>
                    <a:ext uri="{9D8B030D-6E8A-4147-A177-3AD203B41FA5}">
                      <a16:colId xmlns:a16="http://schemas.microsoft.com/office/drawing/2014/main" val="20002"/>
                    </a:ext>
                  </a:extLst>
                </a:gridCol>
              </a:tblGrid>
              <a:tr h="3429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BS ≥ 11 mmol/L</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extLst>
                  <a:ext uri="{0D108BD9-81ED-4DB2-BD59-A6C34878D82A}">
                    <a16:rowId xmlns:a16="http://schemas.microsoft.com/office/drawing/2014/main" val="10000"/>
                  </a:ext>
                </a:extLst>
              </a:tr>
              <a:tr h="342900">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1"/>
                  </a:ext>
                </a:extLst>
              </a:tr>
              <a:tr h="342900">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Mid</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336</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2"/>
                  </a:ext>
                </a:extLst>
              </a:tr>
              <a:tr h="342900">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272</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300" dirty="0">
                          <a:solidFill>
                            <a:srgbClr val="0F2A20"/>
                          </a:solidFill>
                          <a:latin typeface="Calibri" pitchFamily="34" charset="0"/>
                          <a:ea typeface="Calibri" pitchFamily="34" charset="-122"/>
                          <a:cs typeface="Calibri" pitchFamily="34" charset="-120"/>
                        </a:rPr>
                        <a:t>62.5%</a:t>
                      </a:r>
                      <a:endParaRPr lang="en-US" sz="13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3"/>
                  </a:ext>
                </a:extLst>
              </a:tr>
            </a:tbl>
          </a:graphicData>
        </a:graphic>
      </p:graphicFrame>
      <p:sp>
        <p:nvSpPr>
          <p:cNvPr id="9" name="Text 6"/>
          <p:cNvSpPr/>
          <p:nvPr/>
        </p:nvSpPr>
        <p:spPr>
          <a:xfrm>
            <a:off x="7360920" y="4160520"/>
            <a:ext cx="4297680" cy="1737360"/>
          </a:xfrm>
          <a:prstGeom prst="rect">
            <a:avLst/>
          </a:prstGeom>
          <a:noFill/>
          <a:ln/>
        </p:spPr>
        <p:txBody>
          <a:bodyPr wrap="square" lIns="0" tIns="0" rIns="0" bIns="0" rtlCol="0" anchor="ctr"/>
          <a:lstStyle/>
          <a:p>
            <a:pPr marL="0" indent="0">
              <a:lnSpc>
                <a:spcPct val="130000"/>
              </a:lnSpc>
              <a:buNone/>
            </a:pPr>
            <a:r>
              <a:rPr lang="en-US" sz="1250" i="1" dirty="0">
                <a:solidFill>
                  <a:srgbClr val="44554C"/>
                </a:solidFill>
                <a:latin typeface="Calibri" pitchFamily="34" charset="0"/>
                <a:ea typeface="Calibri" pitchFamily="34" charset="-122"/>
                <a:cs typeface="Calibri" pitchFamily="34" charset="-120"/>
              </a:rPr>
              <a:t>SQLite has no native STDDEV or MEDIAN — both are reconstructed with window functions and √(E[X²]−E[X]²), matching the Python descriptive statistics exactly.</a:t>
            </a:r>
            <a:endParaRPr lang="en-US" sz="1250" dirty="0"/>
          </a:p>
        </p:txBody>
      </p:sp>
      <p:sp>
        <p:nvSpPr>
          <p:cNvPr id="10" name="Text 7"/>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1" name="Text 8"/>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MACHINE LEARNING</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Leakage-Safe Split &amp; Logistic Regression</a:t>
            </a:r>
            <a:endParaRPr lang="en-US" sz="3000" dirty="0"/>
          </a:p>
        </p:txBody>
      </p:sp>
      <p:sp>
        <p:nvSpPr>
          <p:cNvPr id="4" name="Shape 2"/>
          <p:cNvSpPr/>
          <p:nvPr/>
        </p:nvSpPr>
        <p:spPr>
          <a:xfrm>
            <a:off x="548640" y="1508760"/>
            <a:ext cx="6035040" cy="4572000"/>
          </a:xfrm>
          <a:prstGeom prst="rect">
            <a:avLst/>
          </a:prstGeom>
          <a:solidFill>
            <a:srgbClr val="0D2A20"/>
          </a:solidFill>
          <a:ln/>
        </p:spPr>
      </p:sp>
      <p:sp>
        <p:nvSpPr>
          <p:cNvPr id="5" name="Text 3"/>
          <p:cNvSpPr/>
          <p:nvPr/>
        </p:nvSpPr>
        <p:spPr>
          <a:xfrm>
            <a:off x="777240" y="1691640"/>
            <a:ext cx="5623560" cy="4206240"/>
          </a:xfrm>
          <a:prstGeom prst="rect">
            <a:avLst/>
          </a:prstGeom>
          <a:noFill/>
          <a:ln/>
        </p:spPr>
        <p:txBody>
          <a:bodyPr wrap="square" lIns="0" tIns="0" rIns="0" bIns="0" rtlCol="0" anchor="t"/>
          <a:lstStyle/>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FEATURES = ["Age","SystolicBP","DiastolicBP",</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            "BS","BodyTemp","HeartRate"]</a:t>
            </a:r>
            <a:endParaRPr lang="en-US" sz="1200" dirty="0"/>
          </a:p>
          <a:p>
            <a:pPr marL="0" indent="0">
              <a:lnSpc>
                <a:spcPct val="120000"/>
              </a:lnSpc>
              <a:buNone/>
            </a:pP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X_train, X_test, y_train, y_test = train_test_split(</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    X, y, test_size=0.2,</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    random_state=42, stratify=y</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a:t>
            </a:r>
            <a:endParaRPr lang="en-US" sz="1200" dirty="0"/>
          </a:p>
          <a:p>
            <a:pPr marL="0" indent="0">
              <a:lnSpc>
                <a:spcPct val="120000"/>
              </a:lnSpc>
              <a:buNone/>
            </a:pP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 Fit scaler on TRAIN ONLY to avoid leakage</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scaler = StandardScaler().fit(X_train)</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X_train_s = scaler.transform(X_train)</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X_test_s  = scaler.transform(X_test)</a:t>
            </a:r>
            <a:endParaRPr lang="en-US" sz="1200" dirty="0"/>
          </a:p>
          <a:p>
            <a:pPr marL="0" indent="0">
              <a:lnSpc>
                <a:spcPct val="120000"/>
              </a:lnSpc>
              <a:buNone/>
            </a:pP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logreg = LogisticRegression(max_iter=2000,</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                             random_state=42)</a:t>
            </a:r>
            <a:endParaRPr lang="en-US" sz="1200" dirty="0"/>
          </a:p>
          <a:p>
            <a:pPr marL="0" indent="0">
              <a:lnSpc>
                <a:spcPct val="120000"/>
              </a:lnSpc>
              <a:buNone/>
            </a:pPr>
            <a:r>
              <a:rPr lang="en-US" sz="1200" dirty="0">
                <a:solidFill>
                  <a:srgbClr val="BFEFDD"/>
                </a:solidFill>
                <a:latin typeface="Courier New" pitchFamily="34" charset="0"/>
                <a:ea typeface="Courier New" pitchFamily="34" charset="-122"/>
                <a:cs typeface="Courier New" pitchFamily="34" charset="-120"/>
              </a:rPr>
              <a:t>logreg.fit(X_train_s, y_train)</a:t>
            </a:r>
            <a:endParaRPr lang="en-US" sz="1200" dirty="0"/>
          </a:p>
        </p:txBody>
      </p:sp>
      <p:sp>
        <p:nvSpPr>
          <p:cNvPr id="6" name="Text 4"/>
          <p:cNvSpPr/>
          <p:nvPr/>
        </p:nvSpPr>
        <p:spPr>
          <a:xfrm>
            <a:off x="6903720" y="1554480"/>
            <a:ext cx="475488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Multinomial Logistic Regression</a:t>
            </a:r>
            <a:endParaRPr lang="en-US" sz="1650" dirty="0"/>
          </a:p>
        </p:txBody>
      </p:sp>
      <p:sp>
        <p:nvSpPr>
          <p:cNvPr id="7" name="Shape 5"/>
          <p:cNvSpPr/>
          <p:nvPr/>
        </p:nvSpPr>
        <p:spPr>
          <a:xfrm>
            <a:off x="6903720" y="2066544"/>
            <a:ext cx="100584" cy="100584"/>
          </a:xfrm>
          <a:prstGeom prst="ellipse">
            <a:avLst/>
          </a:prstGeom>
          <a:solidFill>
            <a:srgbClr val="047857"/>
          </a:solidFill>
          <a:ln/>
        </p:spPr>
      </p:sp>
      <p:sp>
        <p:nvSpPr>
          <p:cNvPr id="8" name="Text 6"/>
          <p:cNvSpPr txBox="1"/>
          <p:nvPr/>
        </p:nvSpPr>
        <p:spPr>
          <a:xfrm>
            <a:off x="7178040" y="193852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80/20 stratified split preserves the Low/Mid/High proportions in both sets (test n = 203, including 55 High-Risk cases).</a:t>
            </a:r>
            <a:endParaRPr lang="en-US" sz="1250" dirty="0"/>
          </a:p>
        </p:txBody>
      </p:sp>
      <p:sp>
        <p:nvSpPr>
          <p:cNvPr id="9" name="Shape 7"/>
          <p:cNvSpPr/>
          <p:nvPr/>
        </p:nvSpPr>
        <p:spPr>
          <a:xfrm>
            <a:off x="6903720" y="3026664"/>
            <a:ext cx="100584" cy="100584"/>
          </a:xfrm>
          <a:prstGeom prst="ellipse">
            <a:avLst/>
          </a:prstGeom>
          <a:solidFill>
            <a:srgbClr val="047857"/>
          </a:solidFill>
          <a:ln/>
        </p:spPr>
      </p:sp>
      <p:sp>
        <p:nvSpPr>
          <p:cNvPr id="10" name="Text 8"/>
          <p:cNvSpPr txBox="1"/>
          <p:nvPr/>
        </p:nvSpPr>
        <p:spPr>
          <a:xfrm>
            <a:off x="7178040" y="289864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Softmax over per-class linear scores zₖ = β₀ₖ + β₁ₖx₁ + ... + βₚₖxₚ converts scores to class probabilities.</a:t>
            </a:r>
            <a:endParaRPr lang="en-US" sz="1250" dirty="0"/>
          </a:p>
        </p:txBody>
      </p:sp>
      <p:sp>
        <p:nvSpPr>
          <p:cNvPr id="11" name="Shape 9"/>
          <p:cNvSpPr/>
          <p:nvPr/>
        </p:nvSpPr>
        <p:spPr>
          <a:xfrm>
            <a:off x="6903720" y="3986784"/>
            <a:ext cx="100584" cy="100584"/>
          </a:xfrm>
          <a:prstGeom prst="ellipse">
            <a:avLst/>
          </a:prstGeom>
          <a:solidFill>
            <a:srgbClr val="047857"/>
          </a:solidFill>
          <a:ln/>
        </p:spPr>
      </p:sp>
      <p:sp>
        <p:nvSpPr>
          <p:cNvPr id="12" name="Text 10"/>
          <p:cNvSpPr txBox="1"/>
          <p:nvPr/>
        </p:nvSpPr>
        <p:spPr>
          <a:xfrm>
            <a:off x="7178040" y="385876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Standardization matters here because predictors are on very different scales (mmHg vs. mmol/L vs. °F).</a:t>
            </a:r>
            <a:endParaRPr lang="en-US" sz="1250" dirty="0"/>
          </a:p>
        </p:txBody>
      </p:sp>
      <p:sp>
        <p:nvSpPr>
          <p:cNvPr id="13" name="Shape 11"/>
          <p:cNvSpPr/>
          <p:nvPr/>
        </p:nvSpPr>
        <p:spPr>
          <a:xfrm>
            <a:off x="6903720" y="4946904"/>
            <a:ext cx="100584" cy="100584"/>
          </a:xfrm>
          <a:prstGeom prst="ellipse">
            <a:avLst/>
          </a:prstGeom>
          <a:solidFill>
            <a:srgbClr val="047857"/>
          </a:solidFill>
          <a:ln/>
        </p:spPr>
      </p:sp>
      <p:sp>
        <p:nvSpPr>
          <p:cNvPr id="14" name="Text 12"/>
          <p:cNvSpPr txBox="1"/>
          <p:nvPr/>
        </p:nvSpPr>
        <p:spPr>
          <a:xfrm>
            <a:off x="7178040" y="481888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Result: 0.586 accuracy, 0.584 macro F1, 0.782 High-Risk Recall.</a:t>
            </a:r>
            <a:endParaRPr lang="en-US" sz="1250" dirty="0"/>
          </a:p>
        </p:txBody>
      </p:sp>
      <p:sp>
        <p:nvSpPr>
          <p:cNvPr id="15" name="Text 1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6" name="Text 14"/>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MACHINE LEARNING</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Shallow, Interpretable Decision Tree</a:t>
            </a:r>
            <a:endParaRPr lang="en-US" sz="3000" dirty="0"/>
          </a:p>
        </p:txBody>
      </p:sp>
      <p:sp>
        <p:nvSpPr>
          <p:cNvPr id="4" name="Shape 2"/>
          <p:cNvSpPr/>
          <p:nvPr/>
        </p:nvSpPr>
        <p:spPr>
          <a:xfrm>
            <a:off x="548640" y="1508760"/>
            <a:ext cx="6035040" cy="3977640"/>
          </a:xfrm>
          <a:prstGeom prst="rect">
            <a:avLst/>
          </a:prstGeom>
          <a:solidFill>
            <a:srgbClr val="0D2A20"/>
          </a:solidFill>
          <a:ln/>
        </p:spPr>
      </p:sp>
      <p:sp>
        <p:nvSpPr>
          <p:cNvPr id="5" name="Text 3"/>
          <p:cNvSpPr/>
          <p:nvPr/>
        </p:nvSpPr>
        <p:spPr>
          <a:xfrm>
            <a:off x="777240" y="1737360"/>
            <a:ext cx="5623560" cy="3566160"/>
          </a:xfrm>
          <a:prstGeom prst="rect">
            <a:avLst/>
          </a:prstGeom>
          <a:noFill/>
          <a:ln/>
        </p:spPr>
        <p:txBody>
          <a:bodyPr wrap="square" lIns="0" tIns="0" rIns="0" bIns="0" rtlCol="0" anchor="t"/>
          <a:lstStyle/>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tree = DecisionTreeClassifier(</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max_depth=4,</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min_samples_leaf=15,</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random_state=42</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tree.fit(X_train, y_train)          # no scaling needed</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y_pred = tree.predict(X_test)</a:t>
            </a:r>
            <a:endParaRPr lang="en-US" sz="1250" dirty="0"/>
          </a:p>
          <a:p>
            <a:pPr marL="0" indent="0">
              <a:lnSpc>
                <a:spcPct val="125000"/>
              </a:lnSpc>
              <a:buNone/>
            </a:pP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Select final model: High-Risk Recall first,</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macro F1 as tie-breaker</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if tree_metrics["high_risk_recall"] &gt;= \</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lr_metrics["high_risk_recall"]:</a:t>
            </a:r>
            <a:endParaRPr lang="en-US" sz="1250" dirty="0"/>
          </a:p>
          <a:p>
            <a:pPr marL="0" indent="0">
              <a:lnSpc>
                <a:spcPct val="125000"/>
              </a:lnSpc>
              <a:buNone/>
            </a:pPr>
            <a:r>
              <a:rPr lang="en-US" sz="1250" dirty="0">
                <a:solidFill>
                  <a:srgbClr val="BFEFDD"/>
                </a:solidFill>
                <a:latin typeface="Courier New" pitchFamily="34" charset="0"/>
                <a:ea typeface="Courier New" pitchFamily="34" charset="-122"/>
                <a:cs typeface="Courier New" pitchFamily="34" charset="-120"/>
              </a:rPr>
              <a:t>    final_model = tree</a:t>
            </a:r>
            <a:endParaRPr lang="en-US" sz="1250" dirty="0"/>
          </a:p>
        </p:txBody>
      </p:sp>
      <p:sp>
        <p:nvSpPr>
          <p:cNvPr id="6" name="Text 4"/>
          <p:cNvSpPr/>
          <p:nvPr/>
        </p:nvSpPr>
        <p:spPr>
          <a:xfrm>
            <a:off x="777240" y="5074920"/>
            <a:ext cx="5623560" cy="365760"/>
          </a:xfrm>
          <a:prstGeom prst="rect">
            <a:avLst/>
          </a:prstGeom>
          <a:noFill/>
          <a:ln/>
        </p:spPr>
        <p:txBody>
          <a:bodyPr wrap="square" lIns="0" tIns="0" rIns="0" bIns="0" rtlCol="0" anchor="ctr"/>
          <a:lstStyle/>
          <a:p>
            <a:pPr marL="0" indent="0">
              <a:buNone/>
            </a:pPr>
            <a:r>
              <a:rPr lang="en-US" sz="1400" i="1" dirty="0">
                <a:solidFill>
                  <a:srgbClr val="D1FAE5"/>
                </a:solidFill>
                <a:latin typeface="Cambria" pitchFamily="34" charset="0"/>
                <a:ea typeface="Cambria" pitchFamily="34" charset="-122"/>
                <a:cs typeface="Cambria" pitchFamily="34" charset="-120"/>
              </a:rPr>
              <a:t>Gini(t) = 1 − Σ pₖ²</a:t>
            </a:r>
            <a:endParaRPr lang="en-US" sz="1400" dirty="0"/>
          </a:p>
        </p:txBody>
      </p:sp>
      <p:sp>
        <p:nvSpPr>
          <p:cNvPr id="7" name="Text 5"/>
          <p:cNvSpPr/>
          <p:nvPr/>
        </p:nvSpPr>
        <p:spPr>
          <a:xfrm>
            <a:off x="6903720" y="1554480"/>
            <a:ext cx="4754880" cy="365760"/>
          </a:xfrm>
          <a:prstGeom prst="rect">
            <a:avLst/>
          </a:prstGeom>
          <a:noFill/>
          <a:ln/>
        </p:spPr>
        <p:txBody>
          <a:bodyPr wrap="square" lIns="0" tIns="0" rIns="0" bIns="0" rtlCol="0" anchor="ctr"/>
          <a:lstStyle/>
          <a:p>
            <a:pPr marL="0" indent="0">
              <a:buNone/>
            </a:pPr>
            <a:r>
              <a:rPr lang="en-US" sz="1650" b="1" dirty="0">
                <a:solidFill>
                  <a:srgbClr val="0F2A20"/>
                </a:solidFill>
                <a:latin typeface="Cambria" pitchFamily="34" charset="0"/>
                <a:ea typeface="Cambria" pitchFamily="34" charset="-122"/>
                <a:cs typeface="Cambria" pitchFamily="34" charset="-120"/>
              </a:rPr>
              <a:t>Decision Tree (depth = 4)</a:t>
            </a:r>
            <a:endParaRPr lang="en-US" sz="1650" dirty="0"/>
          </a:p>
        </p:txBody>
      </p:sp>
      <p:sp>
        <p:nvSpPr>
          <p:cNvPr id="8" name="Shape 6"/>
          <p:cNvSpPr/>
          <p:nvPr/>
        </p:nvSpPr>
        <p:spPr>
          <a:xfrm>
            <a:off x="6903720" y="2066544"/>
            <a:ext cx="100584" cy="100584"/>
          </a:xfrm>
          <a:prstGeom prst="ellipse">
            <a:avLst/>
          </a:prstGeom>
          <a:solidFill>
            <a:srgbClr val="047857"/>
          </a:solidFill>
          <a:ln/>
        </p:spPr>
      </p:sp>
      <p:sp>
        <p:nvSpPr>
          <p:cNvPr id="9" name="Text 7"/>
          <p:cNvSpPr txBox="1"/>
          <p:nvPr/>
        </p:nvSpPr>
        <p:spPr>
          <a:xfrm>
            <a:off x="7178040" y="193852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Kept intentionally shallow (depth 4, min leaf 15) to stay interpretable and limit overfitting on a modest sample.</a:t>
            </a:r>
            <a:endParaRPr lang="en-US" sz="1250" dirty="0"/>
          </a:p>
        </p:txBody>
      </p:sp>
      <p:sp>
        <p:nvSpPr>
          <p:cNvPr id="10" name="Shape 8"/>
          <p:cNvSpPr/>
          <p:nvPr/>
        </p:nvSpPr>
        <p:spPr>
          <a:xfrm>
            <a:off x="6903720" y="3026664"/>
            <a:ext cx="100584" cy="100584"/>
          </a:xfrm>
          <a:prstGeom prst="ellipse">
            <a:avLst/>
          </a:prstGeom>
          <a:solidFill>
            <a:srgbClr val="047857"/>
          </a:solidFill>
          <a:ln/>
        </p:spPr>
      </p:sp>
      <p:sp>
        <p:nvSpPr>
          <p:cNvPr id="11" name="Text 9"/>
          <p:cNvSpPr txBox="1"/>
          <p:nvPr/>
        </p:nvSpPr>
        <p:spPr>
          <a:xfrm>
            <a:off x="7178040" y="289864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Each split reduces Gini impurity — the tree can be read top-to-bottom as an explicit set of threshold rules.</a:t>
            </a:r>
            <a:endParaRPr lang="en-US" sz="1250" dirty="0"/>
          </a:p>
        </p:txBody>
      </p:sp>
      <p:sp>
        <p:nvSpPr>
          <p:cNvPr id="12" name="Shape 10"/>
          <p:cNvSpPr/>
          <p:nvPr/>
        </p:nvSpPr>
        <p:spPr>
          <a:xfrm>
            <a:off x="6903720" y="3986784"/>
            <a:ext cx="100584" cy="100584"/>
          </a:xfrm>
          <a:prstGeom prst="ellipse">
            <a:avLst/>
          </a:prstGeom>
          <a:solidFill>
            <a:srgbClr val="047857"/>
          </a:solidFill>
          <a:ln/>
        </p:spPr>
      </p:sp>
      <p:sp>
        <p:nvSpPr>
          <p:cNvPr id="13" name="Text 11"/>
          <p:cNvSpPr txBox="1"/>
          <p:nvPr/>
        </p:nvSpPr>
        <p:spPr>
          <a:xfrm>
            <a:off x="7178040" y="385876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Chosen as the final model: it outperformed Logistic Regression on all four reported metrics.</a:t>
            </a:r>
            <a:endParaRPr lang="en-US" sz="1250" dirty="0"/>
          </a:p>
        </p:txBody>
      </p:sp>
      <p:sp>
        <p:nvSpPr>
          <p:cNvPr id="14" name="Shape 12"/>
          <p:cNvSpPr/>
          <p:nvPr/>
        </p:nvSpPr>
        <p:spPr>
          <a:xfrm>
            <a:off x="6903720" y="4946904"/>
            <a:ext cx="100584" cy="100584"/>
          </a:xfrm>
          <a:prstGeom prst="ellipse">
            <a:avLst/>
          </a:prstGeom>
          <a:solidFill>
            <a:srgbClr val="047857"/>
          </a:solidFill>
          <a:ln/>
        </p:spPr>
      </p:sp>
      <p:sp>
        <p:nvSpPr>
          <p:cNvPr id="15" name="Text 13"/>
          <p:cNvSpPr txBox="1"/>
          <p:nvPr/>
        </p:nvSpPr>
        <p:spPr>
          <a:xfrm>
            <a:off x="7178040" y="4818888"/>
            <a:ext cx="4617720" cy="960120"/>
          </a:xfrm>
          <a:prstGeom prst="rect">
            <a:avLst/>
          </a:prstGeom>
          <a:noFill/>
          <a:ln/>
        </p:spPr>
        <p:txBody>
          <a:bodyPr wrap="square" lIns="0" tIns="0" rIns="0" bIns="0" rtlCol="0" anchor="t"/>
          <a:lstStyle/>
          <a:p>
            <a:pPr marL="0" indent="0">
              <a:buNone/>
            </a:pPr>
            <a:r>
              <a:rPr lang="en-US" sz="1250" dirty="0">
                <a:solidFill>
                  <a:srgbClr val="0F2A20"/>
                </a:solidFill>
                <a:latin typeface="Calibri" pitchFamily="34" charset="0"/>
                <a:ea typeface="Calibri" pitchFamily="34" charset="-122"/>
                <a:cs typeface="Calibri" pitchFamily="34" charset="-120"/>
              </a:rPr>
              <a:t>Result: 0.680 accuracy, 0.670 macro F1, 0.836 High-Risk Recall, 0.920 High-Risk Precision.</a:t>
            </a:r>
            <a:endParaRPr lang="en-US" sz="1250" dirty="0"/>
          </a:p>
        </p:txBody>
      </p:sp>
      <p:sp>
        <p:nvSpPr>
          <p:cNvPr id="16" name="Text 14"/>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7" name="Text 15"/>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RESULTS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Model Comparison on the Held-Out Test Set</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1280160"/>
        </p:xfrm>
        <a:graphic>
          <a:graphicData uri="http://schemas.openxmlformats.org/drawingml/2006/table">
            <a:tbl>
              <a:tblPr/>
              <a:tblGrid>
                <a:gridCol w="32004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965960">
                  <a:extLst>
                    <a:ext uri="{9D8B030D-6E8A-4147-A177-3AD203B41FA5}">
                      <a16:colId xmlns:a16="http://schemas.microsoft.com/office/drawing/2014/main" val="20004"/>
                    </a:ext>
                  </a:extLst>
                </a:gridCol>
              </a:tblGrid>
              <a:tr h="42672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Accuracy</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Macro F1</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High Recall</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High Precision</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extLst>
                  <a:ext uri="{0D108BD9-81ED-4DB2-BD59-A6C34878D82A}">
                    <a16:rowId xmlns:a16="http://schemas.microsoft.com/office/drawing/2014/main" val="10000"/>
                  </a:ext>
                </a:extLst>
              </a:tr>
              <a:tr h="426720">
                <a:tc>
                  <a:txBody>
                    <a:bodyPr/>
                    <a:lstStyle/>
                    <a:p>
                      <a:pPr marL="0" indent="0">
                        <a:buNone/>
                      </a:pPr>
                      <a:r>
                        <a:rPr lang="en-US" sz="1500" b="1" dirty="0">
                          <a:solidFill>
                            <a:srgbClr val="0F2A20"/>
                          </a:solidFill>
                          <a:latin typeface="Calibri" pitchFamily="34" charset="0"/>
                          <a:ea typeface="Calibri" pitchFamily="34" charset="-122"/>
                          <a:cs typeface="Calibri" pitchFamily="34" charset="-120"/>
                        </a:rPr>
                        <a:t>Logistic Regression</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0.586</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0.584</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0.782</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0.768</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6720">
                <a:tc>
                  <a:txBody>
                    <a:bodyPr/>
                    <a:lstStyle/>
                    <a:p>
                      <a:pPr marL="0" indent="0">
                        <a:buNone/>
                      </a:pPr>
                      <a:r>
                        <a:rPr lang="en-US" sz="1500" b="1" dirty="0">
                          <a:solidFill>
                            <a:srgbClr val="0F2A20"/>
                          </a:solidFill>
                          <a:latin typeface="Calibri" pitchFamily="34" charset="0"/>
                          <a:ea typeface="Calibri" pitchFamily="34" charset="-122"/>
                          <a:cs typeface="Calibri" pitchFamily="34" charset="-120"/>
                        </a:rPr>
                        <a:t>Decision Tree — selected</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D1FAE5"/>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0.680</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D1FAE5"/>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0.670</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D1FAE5"/>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0.836</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D1FAE5"/>
                    </a:solidFill>
                  </a:tcPr>
                </a:tc>
                <a:tc>
                  <a:txBody>
                    <a:bodyPr/>
                    <a:lstStyle/>
                    <a:p>
                      <a:pPr marL="0" indent="0">
                        <a:buNone/>
                      </a:pPr>
                      <a:r>
                        <a:rPr lang="en-US" sz="1500" dirty="0">
                          <a:solidFill>
                            <a:srgbClr val="0F2A20"/>
                          </a:solidFill>
                          <a:latin typeface="Calibri" pitchFamily="34" charset="0"/>
                          <a:ea typeface="Calibri" pitchFamily="34" charset="-122"/>
                          <a:cs typeface="Calibri" pitchFamily="34" charset="-120"/>
                        </a:rPr>
                        <a:t>0.920</a:t>
                      </a:r>
                      <a:endParaRPr lang="en-US" sz="15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D1FAE5"/>
                    </a:solidFill>
                  </a:tcPr>
                </a:tc>
                <a:extLst>
                  <a:ext uri="{0D108BD9-81ED-4DB2-BD59-A6C34878D82A}">
                    <a16:rowId xmlns:a16="http://schemas.microsoft.com/office/drawing/2014/main" val="10002"/>
                  </a:ext>
                </a:extLst>
              </a:tr>
            </a:tbl>
          </a:graphicData>
        </a:graphic>
      </p:graphicFrame>
      <p:graphicFrame>
        <p:nvGraphicFramePr>
          <p:cNvPr id="5" name="Chart 0"/>
          <p:cNvGraphicFramePr/>
          <p:nvPr/>
        </p:nvGraphicFramePr>
        <p:xfrm>
          <a:off x="548640" y="3108960"/>
          <a:ext cx="110642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7" name="Text 3"/>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RESULTS</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Class-Wise Performance &amp; Confusion Matrices</a:t>
            </a:r>
            <a:endParaRPr lang="en-US" sz="3000" dirty="0"/>
          </a:p>
        </p:txBody>
      </p:sp>
      <p:pic>
        <p:nvPicPr>
          <p:cNvPr id="4" name="Image 0" descr="07a_confusion_logreg.png"/>
          <p:cNvPicPr>
            <a:picLocks noChangeAspect="1"/>
          </p:cNvPicPr>
          <p:nvPr/>
        </p:nvPicPr>
        <p:blipFill>
          <a:blip r:embed="rId3"/>
          <a:srcRect/>
          <a:stretch/>
        </p:blipFill>
        <p:spPr>
          <a:xfrm>
            <a:off x="548640" y="1554480"/>
            <a:ext cx="3794760" cy="3429000"/>
          </a:xfrm>
          <a:prstGeom prst="rect">
            <a:avLst/>
          </a:prstGeom>
        </p:spPr>
      </p:pic>
      <p:pic>
        <p:nvPicPr>
          <p:cNvPr id="5" name="Image 1" descr="07b_confusion_tree.png"/>
          <p:cNvPicPr>
            <a:picLocks noChangeAspect="1"/>
          </p:cNvPicPr>
          <p:nvPr/>
        </p:nvPicPr>
        <p:blipFill>
          <a:blip r:embed="rId4"/>
          <a:srcRect/>
          <a:stretch/>
        </p:blipFill>
        <p:spPr>
          <a:xfrm>
            <a:off x="4526280" y="1554480"/>
            <a:ext cx="3794760" cy="342900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549640" y="1554480"/>
          <a:ext cx="3108960" cy="1775460"/>
        </p:xfrm>
        <a:graphic>
          <a:graphicData uri="http://schemas.openxmlformats.org/drawingml/2006/table">
            <a:tbl>
              <a:tblPr/>
              <a:tblGrid>
                <a:gridCol w="777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4343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047857"/>
                    </a:solidFill>
                  </a:tcPr>
                </a:tc>
                <a:extLst>
                  <a:ext uri="{0D108BD9-81ED-4DB2-BD59-A6C34878D82A}">
                    <a16:rowId xmlns:a16="http://schemas.microsoft.com/office/drawing/2014/main" val="10000"/>
                  </a:ext>
                </a:extLst>
              </a:tr>
              <a:tr h="434340">
                <a:tc>
                  <a:txBody>
                    <a:bodyPr/>
                    <a:lstStyle/>
                    <a:p>
                      <a:pPr marL="0" indent="0">
                        <a:buNone/>
                      </a:pPr>
                      <a:r>
                        <a:rPr lang="en-US" sz="1250" b="1" dirty="0">
                          <a:solidFill>
                            <a:srgbClr val="0F2A20"/>
                          </a:solidFill>
                          <a:latin typeface="Calibri" pitchFamily="34" charset="0"/>
                          <a:ea typeface="Calibri" pitchFamily="34" charset="-122"/>
                          <a:cs typeface="Calibri" pitchFamily="34" charset="-120"/>
                        </a:rPr>
                        <a:t>Low Risk</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0.614</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0.864</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0.718</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4340">
                <a:tc>
                  <a:txBody>
                    <a:bodyPr/>
                    <a:lstStyle/>
                    <a:p>
                      <a:pPr marL="0" indent="0">
                        <a:buNone/>
                      </a:pPr>
                      <a:r>
                        <a:rPr lang="en-US" sz="1250" b="1" dirty="0">
                          <a:solidFill>
                            <a:srgbClr val="0F2A20"/>
                          </a:solidFill>
                          <a:latin typeface="Calibri" pitchFamily="34" charset="0"/>
                          <a:ea typeface="Calibri" pitchFamily="34" charset="-122"/>
                          <a:cs typeface="Calibri" pitchFamily="34" charset="-120"/>
                        </a:rPr>
                        <a:t>Mid Risk</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0.564</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0.328</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0.415</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ECFDF5"/>
                    </a:solidFill>
                  </a:tcPr>
                </a:tc>
                <a:extLst>
                  <a:ext uri="{0D108BD9-81ED-4DB2-BD59-A6C34878D82A}">
                    <a16:rowId xmlns:a16="http://schemas.microsoft.com/office/drawing/2014/main" val="10002"/>
                  </a:ext>
                </a:extLst>
              </a:tr>
              <a:tr h="434340">
                <a:tc>
                  <a:txBody>
                    <a:bodyPr/>
                    <a:lstStyle/>
                    <a:p>
                      <a:pPr marL="0" indent="0">
                        <a:buNone/>
                      </a:pPr>
                      <a:r>
                        <a:rPr lang="en-US" sz="1250" b="1" dirty="0">
                          <a:solidFill>
                            <a:srgbClr val="0F2A20"/>
                          </a:solidFill>
                          <a:latin typeface="Calibri" pitchFamily="34" charset="0"/>
                          <a:ea typeface="Calibri" pitchFamily="34" charset="-122"/>
                          <a:cs typeface="Calibri" pitchFamily="34" charset="-120"/>
                        </a:rPr>
                        <a:t>High Risk</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0.920</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0.836</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tc>
                  <a:txBody>
                    <a:bodyPr/>
                    <a:lstStyle/>
                    <a:p>
                      <a:pPr marL="0" indent="0">
                        <a:buNone/>
                      </a:pPr>
                      <a:r>
                        <a:rPr lang="en-US" sz="1250" dirty="0">
                          <a:solidFill>
                            <a:srgbClr val="0F2A20"/>
                          </a:solidFill>
                          <a:latin typeface="Calibri" pitchFamily="34" charset="0"/>
                          <a:ea typeface="Calibri" pitchFamily="34" charset="-122"/>
                          <a:cs typeface="Calibri" pitchFamily="34" charset="-120"/>
                        </a:rPr>
                        <a:t>0.876</a:t>
                      </a:r>
                      <a:endParaRPr lang="en-US" sz="1250" dirty="0">
                        <a:latin typeface="Calibri" charset="0"/>
                        <a:ea typeface="Calibri" charset="0"/>
                        <a:cs typeface="Calibri" charset="0"/>
                      </a:endParaRPr>
                    </a:p>
                  </a:txBody>
                  <a:tcPr anchor="ctr">
                    <a:lnL w="9525" cap="flat" cmpd="sng" algn="ctr">
                      <a:solidFill>
                        <a:srgbClr val="E4EEE9"/>
                      </a:solidFill>
                      <a:prstDash val="solid"/>
                      <a:round/>
                      <a:headEnd type="none" w="med" len="med"/>
                      <a:tailEnd type="none" w="med" len="med"/>
                    </a:lnL>
                    <a:lnR w="9525" cap="flat" cmpd="sng" algn="ctr">
                      <a:solidFill>
                        <a:srgbClr val="E4EEE9"/>
                      </a:solidFill>
                      <a:prstDash val="solid"/>
                      <a:round/>
                      <a:headEnd type="none" w="med" len="med"/>
                      <a:tailEnd type="none" w="med" len="med"/>
                    </a:lnR>
                    <a:lnT w="9525" cap="flat" cmpd="sng" algn="ctr">
                      <a:solidFill>
                        <a:srgbClr val="E4EEE9"/>
                      </a:solidFill>
                      <a:prstDash val="solid"/>
                      <a:round/>
                      <a:headEnd type="none" w="med" len="med"/>
                      <a:tailEnd type="none" w="med" len="med"/>
                    </a:lnT>
                    <a:lnB w="9525" cap="flat" cmpd="sng" algn="ctr">
                      <a:solidFill>
                        <a:srgbClr val="E4EEE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2"/>
          <p:cNvSpPr/>
          <p:nvPr/>
        </p:nvSpPr>
        <p:spPr>
          <a:xfrm>
            <a:off x="8549640" y="1207008"/>
            <a:ext cx="3108960" cy="320040"/>
          </a:xfrm>
          <a:prstGeom prst="rect">
            <a:avLst/>
          </a:prstGeom>
          <a:noFill/>
          <a:ln/>
        </p:spPr>
        <p:txBody>
          <a:bodyPr wrap="square" lIns="0" tIns="0" rIns="0" bIns="0" rtlCol="0" anchor="ctr"/>
          <a:lstStyle/>
          <a:p>
            <a:pPr marL="0" indent="0">
              <a:buNone/>
            </a:pPr>
            <a:r>
              <a:rPr lang="en-US" sz="1350" b="1" dirty="0">
                <a:solidFill>
                  <a:srgbClr val="0F2A20"/>
                </a:solidFill>
                <a:latin typeface="Cambria" pitchFamily="34" charset="0"/>
                <a:ea typeface="Cambria" pitchFamily="34" charset="-122"/>
                <a:cs typeface="Cambria" pitchFamily="34" charset="-120"/>
              </a:rPr>
              <a:t>Decision Tree, per class</a:t>
            </a:r>
            <a:endParaRPr lang="en-US" sz="1350" dirty="0"/>
          </a:p>
        </p:txBody>
      </p:sp>
      <p:sp>
        <p:nvSpPr>
          <p:cNvPr id="8" name="Text 3"/>
          <p:cNvSpPr/>
          <p:nvPr/>
        </p:nvSpPr>
        <p:spPr>
          <a:xfrm>
            <a:off x="8549640" y="3520440"/>
            <a:ext cx="3108960" cy="2011680"/>
          </a:xfrm>
          <a:prstGeom prst="rect">
            <a:avLst/>
          </a:prstGeom>
          <a:noFill/>
          <a:ln/>
        </p:spPr>
        <p:txBody>
          <a:bodyPr wrap="square" lIns="0" tIns="0" rIns="0" bIns="0" rtlCol="0" anchor="ctr"/>
          <a:lstStyle/>
          <a:p>
            <a:pPr marL="0" indent="0">
              <a:lnSpc>
                <a:spcPct val="130000"/>
              </a:lnSpc>
              <a:buNone/>
            </a:pPr>
            <a:r>
              <a:rPr lang="en-US" sz="1150" dirty="0">
                <a:solidFill>
                  <a:srgbClr val="44554C"/>
                </a:solidFill>
                <a:latin typeface="Calibri" pitchFamily="34" charset="0"/>
                <a:ea typeface="Calibri" pitchFamily="34" charset="-122"/>
                <a:cs typeface="Calibri" pitchFamily="34" charset="-120"/>
              </a:rPr>
              <a:t>Main error: 42 of 65 Mid-Risk cases predicted as Low Risk — the Low/Mid boundary, not High-Risk detection, is the model's weak spot. Still, 9 of 55 true High-Risk cases were missed.</a:t>
            </a:r>
            <a:endParaRPr lang="en-US" sz="1150" dirty="0"/>
          </a:p>
        </p:txBody>
      </p:sp>
      <p:sp>
        <p:nvSpPr>
          <p:cNvPr id="9" name="Text 4"/>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10" name="Text 5"/>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FEATURE INTERPRETATION</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What Drives the Model?</a:t>
            </a:r>
            <a:endParaRPr lang="en-US" sz="3000" dirty="0"/>
          </a:p>
        </p:txBody>
      </p:sp>
      <p:pic>
        <p:nvPicPr>
          <p:cNvPr id="4" name="Image 0" descr="08_feature_importance.png"/>
          <p:cNvPicPr>
            <a:picLocks noChangeAspect="1"/>
          </p:cNvPicPr>
          <p:nvPr/>
        </p:nvPicPr>
        <p:blipFill>
          <a:blip r:embed="rId3"/>
          <a:srcRect/>
          <a:stretch/>
        </p:blipFill>
        <p:spPr>
          <a:xfrm>
            <a:off x="502920" y="1508760"/>
            <a:ext cx="5394960" cy="3977640"/>
          </a:xfrm>
          <a:prstGeom prst="rect">
            <a:avLst/>
          </a:prstGeom>
        </p:spPr>
      </p:pic>
      <p:pic>
        <p:nvPicPr>
          <p:cNvPr id="5" name="Image 1" descr="09_decision_tree_structure.png"/>
          <p:cNvPicPr>
            <a:picLocks noChangeAspect="1"/>
          </p:cNvPicPr>
          <p:nvPr/>
        </p:nvPicPr>
        <p:blipFill>
          <a:blip r:embed="rId4"/>
          <a:srcRect/>
          <a:stretch/>
        </p:blipFill>
        <p:spPr>
          <a:xfrm>
            <a:off x="6080760" y="1508760"/>
            <a:ext cx="5623560" cy="3977640"/>
          </a:xfrm>
          <a:prstGeom prst="rect">
            <a:avLst/>
          </a:prstGeom>
        </p:spPr>
      </p:pic>
      <p:sp>
        <p:nvSpPr>
          <p:cNvPr id="6" name="Text 2"/>
          <p:cNvSpPr/>
          <p:nvPr/>
        </p:nvSpPr>
        <p:spPr>
          <a:xfrm>
            <a:off x="548640" y="5577840"/>
            <a:ext cx="11064240" cy="777240"/>
          </a:xfrm>
          <a:prstGeom prst="rect">
            <a:avLst/>
          </a:prstGeom>
          <a:noFill/>
          <a:ln/>
        </p:spPr>
        <p:txBody>
          <a:bodyPr wrap="square" lIns="0" tIns="0" rIns="0" bIns="0" rtlCol="0" anchor="ctr"/>
          <a:lstStyle/>
          <a:p>
            <a:pPr marL="0" indent="0">
              <a:lnSpc>
                <a:spcPct val="125000"/>
              </a:lnSpc>
              <a:buNone/>
            </a:pPr>
            <a:r>
              <a:rPr lang="en-US" sz="1200" i="1" dirty="0">
                <a:solidFill>
                  <a:srgbClr val="44554C"/>
                </a:solidFill>
                <a:latin typeface="Calibri" pitchFamily="34" charset="0"/>
                <a:ea typeface="Calibri" pitchFamily="34" charset="-122"/>
                <a:cs typeface="Calibri" pitchFamily="34" charset="-120"/>
              </a:rPr>
              <a:t>Blood Sugar (~50%) and Systolic BP (~33%) account for the large majority of the tree's splitting power — fully consistent with the descriptive EDA. Diastolic BP, Age, and Heart Rate contribute far less. Importance reflects impurity reduction, not a causal effect.</a:t>
            </a:r>
            <a:endParaRPr lang="en-US" sz="1200" dirty="0"/>
          </a:p>
        </p:txBody>
      </p:sp>
      <p:sp>
        <p:nvSpPr>
          <p:cNvPr id="7" name="Text 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8" name="Text 4"/>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332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ANALYTICAL DASHBOARD</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Overview Dashboard</a:t>
            </a:r>
            <a:endParaRPr lang="en-US" sz="3000" dirty="0"/>
          </a:p>
        </p:txBody>
      </p:sp>
      <p:sp>
        <p:nvSpPr>
          <p:cNvPr id="4" name="Shape 2"/>
          <p:cNvSpPr/>
          <p:nvPr/>
        </p:nvSpPr>
        <p:spPr>
          <a:xfrm>
            <a:off x="502920" y="1371600"/>
            <a:ext cx="11201400" cy="4892040"/>
          </a:xfrm>
          <a:prstGeom prst="rect">
            <a:avLst/>
          </a:prstGeom>
          <a:solidFill>
            <a:srgbClr val="FFFFFF"/>
          </a:solidFill>
          <a:ln/>
        </p:spPr>
      </p:sp>
      <p:sp>
        <p:nvSpPr>
          <p:cNvPr id="6" name="Text 3"/>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BFEAD8"/>
                </a:solidFill>
                <a:latin typeface="Calibri" pitchFamily="34" charset="0"/>
                <a:ea typeface="Calibri" pitchFamily="34" charset="-122"/>
                <a:cs typeface="Calibri" pitchFamily="34" charset="-120"/>
              </a:rPr>
              <a:t>Maternal Health Risk Stratification</a:t>
            </a:r>
            <a:endParaRPr lang="en-US" sz="900" dirty="0"/>
          </a:p>
        </p:txBody>
      </p:sp>
      <p:sp>
        <p:nvSpPr>
          <p:cNvPr id="7" name="Text 4"/>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BFEAD8"/>
                </a:solidFill>
                <a:latin typeface="Calibri" pitchFamily="34" charset="0"/>
                <a:ea typeface="Calibri" pitchFamily="34" charset="-122"/>
                <a:cs typeface="Calibri" pitchFamily="34" charset="-120"/>
              </a:rPr>
              <a:t>17</a:t>
            </a:r>
            <a:endParaRPr lang="en-US" sz="900" dirty="0"/>
          </a:p>
        </p:txBody>
      </p:sp>
      <p:pic>
        <p:nvPicPr>
          <p:cNvPr id="9" name="Picture 8">
            <a:extLst>
              <a:ext uri="{FF2B5EF4-FFF2-40B4-BE49-F238E27FC236}">
                <a16:creationId xmlns:a16="http://schemas.microsoft.com/office/drawing/2014/main" id="{5D3B0993-4CA7-FF4E-3A95-2360050DF2F0}"/>
              </a:ext>
            </a:extLst>
          </p:cNvPr>
          <p:cNvPicPr>
            <a:picLocks noChangeAspect="1"/>
          </p:cNvPicPr>
          <p:nvPr/>
        </p:nvPicPr>
        <p:blipFill>
          <a:blip r:embed="rId3"/>
          <a:stretch>
            <a:fillRect/>
          </a:stretch>
        </p:blipFill>
        <p:spPr>
          <a:xfrm>
            <a:off x="548640" y="1371600"/>
            <a:ext cx="11094720" cy="4892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332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ANALYTICAL DASHBOARD</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Advanced BI Visuals</a:t>
            </a:r>
            <a:endParaRPr lang="en-US" sz="3000" dirty="0"/>
          </a:p>
        </p:txBody>
      </p:sp>
      <p:sp>
        <p:nvSpPr>
          <p:cNvPr id="4" name="Text 2"/>
          <p:cNvSpPr/>
          <p:nvPr/>
        </p:nvSpPr>
        <p:spPr>
          <a:xfrm>
            <a:off x="548640" y="1325880"/>
            <a:ext cx="10972800" cy="365760"/>
          </a:xfrm>
          <a:prstGeom prst="rect">
            <a:avLst/>
          </a:prstGeom>
          <a:noFill/>
          <a:ln/>
        </p:spPr>
        <p:txBody>
          <a:bodyPr wrap="square" lIns="0" tIns="0" rIns="0" bIns="0" rtlCol="0" anchor="ctr"/>
          <a:lstStyle/>
          <a:p>
            <a:pPr marL="0" indent="0">
              <a:buNone/>
            </a:pPr>
            <a:r>
              <a:rPr lang="en-US" sz="1250" i="1" dirty="0">
                <a:solidFill>
                  <a:srgbClr val="D1FAE5"/>
                </a:solidFill>
                <a:latin typeface="Calibri" pitchFamily="34" charset="0"/>
                <a:ea typeface="Calibri" pitchFamily="34" charset="-122"/>
                <a:cs typeface="Calibri" pitchFamily="34" charset="-120"/>
              </a:rPr>
              <a:t>Sankey · Treemap · Decomposition Tree · Heatmap · Gauge · Key Influencers — built with Python, no external BI tool required.</a:t>
            </a:r>
            <a:endParaRPr lang="en-US" sz="1250" dirty="0"/>
          </a:p>
        </p:txBody>
      </p:sp>
      <p:sp>
        <p:nvSpPr>
          <p:cNvPr id="5" name="Shape 3"/>
          <p:cNvSpPr/>
          <p:nvPr/>
        </p:nvSpPr>
        <p:spPr>
          <a:xfrm>
            <a:off x="502920" y="1783080"/>
            <a:ext cx="11201400" cy="4480560"/>
          </a:xfrm>
          <a:prstGeom prst="rect">
            <a:avLst/>
          </a:prstGeom>
          <a:solidFill>
            <a:srgbClr val="FFFFFF"/>
          </a:solidFill>
          <a:ln/>
        </p:spPr>
      </p:sp>
      <p:pic>
        <p:nvPicPr>
          <p:cNvPr id="6" name="Image 0" descr="02_advanced_dashboard.png"/>
          <p:cNvPicPr>
            <a:picLocks noChangeAspect="1"/>
          </p:cNvPicPr>
          <p:nvPr/>
        </p:nvPicPr>
        <p:blipFill>
          <a:blip r:embed="rId3"/>
          <a:srcRect/>
          <a:stretch/>
        </p:blipFill>
        <p:spPr>
          <a:xfrm>
            <a:off x="621792" y="1847088"/>
            <a:ext cx="10963656" cy="4352544"/>
          </a:xfrm>
          <a:prstGeom prst="rect">
            <a:avLst/>
          </a:prstGeom>
        </p:spPr>
      </p:pic>
      <p:sp>
        <p:nvSpPr>
          <p:cNvPr id="7" name="Text 4"/>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BFEAD8"/>
                </a:solidFill>
                <a:latin typeface="Calibri" pitchFamily="34" charset="0"/>
                <a:ea typeface="Calibri" pitchFamily="34" charset="-122"/>
                <a:cs typeface="Calibri" pitchFamily="34" charset="-120"/>
              </a:rPr>
              <a:t>Maternal Health Risk Stratification</a:t>
            </a:r>
            <a:endParaRPr lang="en-US" sz="900" dirty="0"/>
          </a:p>
        </p:txBody>
      </p:sp>
      <p:sp>
        <p:nvSpPr>
          <p:cNvPr id="8" name="Text 5"/>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BFEAD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DISCUSSION</a:t>
            </a:r>
            <a:endParaRPr lang="en-US" sz="125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0F2A20"/>
                </a:solidFill>
                <a:latin typeface="Cambria" pitchFamily="34" charset="0"/>
                <a:ea typeface="Cambria" pitchFamily="34" charset="-122"/>
                <a:cs typeface="Cambria" pitchFamily="34" charset="-120"/>
              </a:rPr>
              <a:t>Limitations</a:t>
            </a:r>
            <a:endParaRPr lang="en-US" sz="3000" dirty="0"/>
          </a:p>
        </p:txBody>
      </p:sp>
      <p:sp>
        <p:nvSpPr>
          <p:cNvPr id="4" name="Shape 2"/>
          <p:cNvSpPr/>
          <p:nvPr/>
        </p:nvSpPr>
        <p:spPr>
          <a:xfrm>
            <a:off x="548640" y="1645920"/>
            <a:ext cx="146304" cy="146304"/>
          </a:xfrm>
          <a:prstGeom prst="ellipse">
            <a:avLst/>
          </a:prstGeom>
          <a:solidFill>
            <a:srgbClr val="C9972C"/>
          </a:solidFill>
          <a:ln/>
        </p:spPr>
      </p:sp>
      <p:sp>
        <p:nvSpPr>
          <p:cNvPr id="5" name="Text 3"/>
          <p:cNvSpPr/>
          <p:nvPr/>
        </p:nvSpPr>
        <p:spPr>
          <a:xfrm>
            <a:off x="868680" y="1527048"/>
            <a:ext cx="5212080" cy="365760"/>
          </a:xfrm>
          <a:prstGeom prst="rect">
            <a:avLst/>
          </a:prstGeom>
          <a:noFill/>
          <a:ln/>
        </p:spPr>
        <p:txBody>
          <a:bodyPr wrap="square" lIns="0" tIns="0" rIns="0" bIns="0" rtlCol="0" anchor="ctr"/>
          <a:lstStyle/>
          <a:p>
            <a:pPr marL="0" indent="0">
              <a:buNone/>
            </a:pPr>
            <a:r>
              <a:rPr lang="en-US" sz="1450" b="1" dirty="0">
                <a:solidFill>
                  <a:srgbClr val="0F2A20"/>
                </a:solidFill>
                <a:latin typeface="Cambria" pitchFamily="34" charset="0"/>
                <a:ea typeface="Cambria" pitchFamily="34" charset="-122"/>
                <a:cs typeface="Cambria" pitchFamily="34" charset="-120"/>
              </a:rPr>
              <a:t>Geographic scope</a:t>
            </a:r>
            <a:endParaRPr lang="en-US" sz="1450" dirty="0"/>
          </a:p>
        </p:txBody>
      </p:sp>
      <p:sp>
        <p:nvSpPr>
          <p:cNvPr id="6" name="Text 4"/>
          <p:cNvSpPr/>
          <p:nvPr/>
        </p:nvSpPr>
        <p:spPr>
          <a:xfrm>
            <a:off x="868680" y="1892808"/>
            <a:ext cx="5212080" cy="914400"/>
          </a:xfrm>
          <a:prstGeom prst="rect">
            <a:avLst/>
          </a:prstGeom>
          <a:noFill/>
          <a:ln/>
        </p:spPr>
        <p:txBody>
          <a:bodyPr wrap="square" lIns="0" tIns="0" rIns="0" bIns="0" rtlCol="0" anchor="ctr"/>
          <a:lstStyle/>
          <a:p>
            <a:pPr marL="0" indent="0">
              <a:lnSpc>
                <a:spcPct val="125000"/>
              </a:lnSpc>
              <a:buNone/>
            </a:pPr>
            <a:r>
              <a:rPr lang="en-US" sz="1200" dirty="0">
                <a:solidFill>
                  <a:srgbClr val="44554C"/>
                </a:solidFill>
                <a:latin typeface="Calibri" pitchFamily="34" charset="0"/>
                <a:ea typeface="Calibri" pitchFamily="34" charset="-122"/>
                <a:cs typeface="Calibri" pitchFamily="34" charset="-120"/>
              </a:rPr>
              <a:t>Rural Bangladesh only — may not generalize to other health systems.</a:t>
            </a:r>
            <a:endParaRPr lang="en-US" sz="1200" dirty="0"/>
          </a:p>
        </p:txBody>
      </p:sp>
      <p:sp>
        <p:nvSpPr>
          <p:cNvPr id="7" name="Shape 5"/>
          <p:cNvSpPr/>
          <p:nvPr/>
        </p:nvSpPr>
        <p:spPr>
          <a:xfrm>
            <a:off x="6355080" y="1645920"/>
            <a:ext cx="146304" cy="146304"/>
          </a:xfrm>
          <a:prstGeom prst="ellipse">
            <a:avLst/>
          </a:prstGeom>
          <a:solidFill>
            <a:srgbClr val="C9972C"/>
          </a:solidFill>
          <a:ln/>
        </p:spPr>
      </p:sp>
      <p:sp>
        <p:nvSpPr>
          <p:cNvPr id="8" name="Text 6"/>
          <p:cNvSpPr/>
          <p:nvPr/>
        </p:nvSpPr>
        <p:spPr>
          <a:xfrm>
            <a:off x="6675120" y="1527048"/>
            <a:ext cx="5212080" cy="365760"/>
          </a:xfrm>
          <a:prstGeom prst="rect">
            <a:avLst/>
          </a:prstGeom>
          <a:noFill/>
          <a:ln/>
        </p:spPr>
        <p:txBody>
          <a:bodyPr wrap="square" lIns="0" tIns="0" rIns="0" bIns="0" rtlCol="0" anchor="ctr"/>
          <a:lstStyle/>
          <a:p>
            <a:pPr marL="0" indent="0">
              <a:buNone/>
            </a:pPr>
            <a:r>
              <a:rPr lang="en-US" sz="1450" b="1" dirty="0">
                <a:solidFill>
                  <a:srgbClr val="0F2A20"/>
                </a:solidFill>
                <a:latin typeface="Cambria" pitchFamily="34" charset="0"/>
                <a:ea typeface="Cambria" pitchFamily="34" charset="-122"/>
                <a:cs typeface="Cambria" pitchFamily="34" charset="-120"/>
              </a:rPr>
              <a:t>Limited predictors</a:t>
            </a:r>
            <a:endParaRPr lang="en-US" sz="1450" dirty="0"/>
          </a:p>
        </p:txBody>
      </p:sp>
      <p:sp>
        <p:nvSpPr>
          <p:cNvPr id="9" name="Text 7"/>
          <p:cNvSpPr/>
          <p:nvPr/>
        </p:nvSpPr>
        <p:spPr>
          <a:xfrm>
            <a:off x="6675120" y="1892808"/>
            <a:ext cx="5212080" cy="914400"/>
          </a:xfrm>
          <a:prstGeom prst="rect">
            <a:avLst/>
          </a:prstGeom>
          <a:noFill/>
          <a:ln/>
        </p:spPr>
        <p:txBody>
          <a:bodyPr wrap="square" lIns="0" tIns="0" rIns="0" bIns="0" rtlCol="0" anchor="ctr"/>
          <a:lstStyle/>
          <a:p>
            <a:pPr marL="0" indent="0">
              <a:lnSpc>
                <a:spcPct val="125000"/>
              </a:lnSpc>
              <a:buNone/>
            </a:pPr>
            <a:r>
              <a:rPr lang="en-US" sz="1200" dirty="0">
                <a:solidFill>
                  <a:srgbClr val="44554C"/>
                </a:solidFill>
                <a:latin typeface="Calibri" pitchFamily="34" charset="0"/>
                <a:ea typeface="Calibri" pitchFamily="34" charset="-122"/>
                <a:cs typeface="Calibri" pitchFamily="34" charset="-120"/>
              </a:rPr>
              <a:t>Only 6 fields; no gestational age, obstetric history, labs, or comorbidities.</a:t>
            </a:r>
            <a:endParaRPr lang="en-US" sz="1200" dirty="0"/>
          </a:p>
        </p:txBody>
      </p:sp>
      <p:sp>
        <p:nvSpPr>
          <p:cNvPr id="10" name="Shape 8"/>
          <p:cNvSpPr/>
          <p:nvPr/>
        </p:nvSpPr>
        <p:spPr>
          <a:xfrm>
            <a:off x="548640" y="3246120"/>
            <a:ext cx="146304" cy="146304"/>
          </a:xfrm>
          <a:prstGeom prst="ellipse">
            <a:avLst/>
          </a:prstGeom>
          <a:solidFill>
            <a:srgbClr val="C9972C"/>
          </a:solidFill>
          <a:ln/>
        </p:spPr>
      </p:sp>
      <p:sp>
        <p:nvSpPr>
          <p:cNvPr id="11" name="Text 9"/>
          <p:cNvSpPr/>
          <p:nvPr/>
        </p:nvSpPr>
        <p:spPr>
          <a:xfrm>
            <a:off x="868680" y="3127248"/>
            <a:ext cx="5212080" cy="365760"/>
          </a:xfrm>
          <a:prstGeom prst="rect">
            <a:avLst/>
          </a:prstGeom>
          <a:noFill/>
          <a:ln/>
        </p:spPr>
        <p:txBody>
          <a:bodyPr wrap="square" lIns="0" tIns="0" rIns="0" bIns="0" rtlCol="0" anchor="ctr"/>
          <a:lstStyle/>
          <a:p>
            <a:pPr marL="0" indent="0">
              <a:buNone/>
            </a:pPr>
            <a:r>
              <a:rPr lang="en-US" sz="1450" b="1" dirty="0">
                <a:solidFill>
                  <a:srgbClr val="0F2A20"/>
                </a:solidFill>
                <a:latin typeface="Cambria" pitchFamily="34" charset="0"/>
                <a:ea typeface="Cambria" pitchFamily="34" charset="-122"/>
                <a:cs typeface="Cambria" pitchFamily="34" charset="-120"/>
              </a:rPr>
              <a:t>Duplicate rows</a:t>
            </a:r>
            <a:endParaRPr lang="en-US" sz="1450" dirty="0"/>
          </a:p>
        </p:txBody>
      </p:sp>
      <p:sp>
        <p:nvSpPr>
          <p:cNvPr id="12" name="Text 10"/>
          <p:cNvSpPr/>
          <p:nvPr/>
        </p:nvSpPr>
        <p:spPr>
          <a:xfrm>
            <a:off x="868680" y="3493008"/>
            <a:ext cx="5212080" cy="914400"/>
          </a:xfrm>
          <a:prstGeom prst="rect">
            <a:avLst/>
          </a:prstGeom>
          <a:noFill/>
          <a:ln/>
        </p:spPr>
        <p:txBody>
          <a:bodyPr wrap="square" lIns="0" tIns="0" rIns="0" bIns="0" rtlCol="0" anchor="ctr"/>
          <a:lstStyle/>
          <a:p>
            <a:pPr marL="0" indent="0">
              <a:lnSpc>
                <a:spcPct val="125000"/>
              </a:lnSpc>
              <a:buNone/>
            </a:pPr>
            <a:r>
              <a:rPr lang="en-US" sz="1200" dirty="0">
                <a:solidFill>
                  <a:srgbClr val="44554C"/>
                </a:solidFill>
                <a:latin typeface="Calibri" pitchFamily="34" charset="0"/>
                <a:ea typeface="Calibri" pitchFamily="34" charset="-122"/>
                <a:cs typeface="Calibri" pitchFamily="34" charset="-120"/>
              </a:rPr>
              <a:t>562 exact duplicates from coarse rounding reduce effective sample diversity.</a:t>
            </a:r>
            <a:endParaRPr lang="en-US" sz="1200" dirty="0"/>
          </a:p>
        </p:txBody>
      </p:sp>
      <p:sp>
        <p:nvSpPr>
          <p:cNvPr id="13" name="Shape 11"/>
          <p:cNvSpPr/>
          <p:nvPr/>
        </p:nvSpPr>
        <p:spPr>
          <a:xfrm>
            <a:off x="6355080" y="3246120"/>
            <a:ext cx="146304" cy="146304"/>
          </a:xfrm>
          <a:prstGeom prst="ellipse">
            <a:avLst/>
          </a:prstGeom>
          <a:solidFill>
            <a:srgbClr val="C9972C"/>
          </a:solidFill>
          <a:ln/>
        </p:spPr>
      </p:sp>
      <p:sp>
        <p:nvSpPr>
          <p:cNvPr id="14" name="Text 12"/>
          <p:cNvSpPr/>
          <p:nvPr/>
        </p:nvSpPr>
        <p:spPr>
          <a:xfrm>
            <a:off x="6675120" y="3127248"/>
            <a:ext cx="5212080" cy="365760"/>
          </a:xfrm>
          <a:prstGeom prst="rect">
            <a:avLst/>
          </a:prstGeom>
          <a:noFill/>
          <a:ln/>
        </p:spPr>
        <p:txBody>
          <a:bodyPr wrap="square" lIns="0" tIns="0" rIns="0" bIns="0" rtlCol="0" anchor="ctr"/>
          <a:lstStyle/>
          <a:p>
            <a:pPr marL="0" indent="0">
              <a:buNone/>
            </a:pPr>
            <a:r>
              <a:rPr lang="en-US" sz="1450" b="1" dirty="0">
                <a:solidFill>
                  <a:srgbClr val="0F2A20"/>
                </a:solidFill>
                <a:latin typeface="Cambria" pitchFamily="34" charset="0"/>
                <a:ea typeface="Cambria" pitchFamily="34" charset="-122"/>
                <a:cs typeface="Cambria" pitchFamily="34" charset="-120"/>
              </a:rPr>
              <a:t>Possible label dependence</a:t>
            </a:r>
            <a:endParaRPr lang="en-US" sz="1450" dirty="0"/>
          </a:p>
        </p:txBody>
      </p:sp>
      <p:sp>
        <p:nvSpPr>
          <p:cNvPr id="15" name="Text 13"/>
          <p:cNvSpPr/>
          <p:nvPr/>
        </p:nvSpPr>
        <p:spPr>
          <a:xfrm>
            <a:off x="6675120" y="3493008"/>
            <a:ext cx="5212080" cy="914400"/>
          </a:xfrm>
          <a:prstGeom prst="rect">
            <a:avLst/>
          </a:prstGeom>
          <a:noFill/>
          <a:ln/>
        </p:spPr>
        <p:txBody>
          <a:bodyPr wrap="square" lIns="0" tIns="0" rIns="0" bIns="0" rtlCol="0" anchor="ctr"/>
          <a:lstStyle/>
          <a:p>
            <a:pPr marL="0" indent="0">
              <a:lnSpc>
                <a:spcPct val="125000"/>
              </a:lnSpc>
              <a:buNone/>
            </a:pPr>
            <a:r>
              <a:rPr lang="en-US" sz="1200" dirty="0">
                <a:solidFill>
                  <a:srgbClr val="44554C"/>
                </a:solidFill>
                <a:latin typeface="Calibri" pitchFamily="34" charset="0"/>
                <a:ea typeface="Calibri" pitchFamily="34" charset="-122"/>
                <a:cs typeface="Calibri" pitchFamily="34" charset="-120"/>
              </a:rPr>
              <a:t>RiskLevel may already be partly derived from BP/BS thresholds.</a:t>
            </a:r>
            <a:endParaRPr lang="en-US" sz="1200" dirty="0"/>
          </a:p>
        </p:txBody>
      </p:sp>
      <p:sp>
        <p:nvSpPr>
          <p:cNvPr id="16" name="Shape 14"/>
          <p:cNvSpPr/>
          <p:nvPr/>
        </p:nvSpPr>
        <p:spPr>
          <a:xfrm>
            <a:off x="548640" y="4846320"/>
            <a:ext cx="146304" cy="146304"/>
          </a:xfrm>
          <a:prstGeom prst="ellipse">
            <a:avLst/>
          </a:prstGeom>
          <a:solidFill>
            <a:srgbClr val="C9972C"/>
          </a:solidFill>
          <a:ln/>
        </p:spPr>
      </p:sp>
      <p:sp>
        <p:nvSpPr>
          <p:cNvPr id="17" name="Text 15"/>
          <p:cNvSpPr/>
          <p:nvPr/>
        </p:nvSpPr>
        <p:spPr>
          <a:xfrm>
            <a:off x="868680" y="4727448"/>
            <a:ext cx="5212080" cy="365760"/>
          </a:xfrm>
          <a:prstGeom prst="rect">
            <a:avLst/>
          </a:prstGeom>
          <a:noFill/>
          <a:ln/>
        </p:spPr>
        <p:txBody>
          <a:bodyPr wrap="square" lIns="0" tIns="0" rIns="0" bIns="0" rtlCol="0" anchor="ctr"/>
          <a:lstStyle/>
          <a:p>
            <a:pPr marL="0" indent="0">
              <a:buNone/>
            </a:pPr>
            <a:r>
              <a:rPr lang="en-US" sz="1450" b="1" dirty="0">
                <a:solidFill>
                  <a:srgbClr val="0F2A20"/>
                </a:solidFill>
                <a:latin typeface="Cambria" pitchFamily="34" charset="0"/>
                <a:ea typeface="Cambria" pitchFamily="34" charset="-122"/>
                <a:cs typeface="Cambria" pitchFamily="34" charset="-120"/>
              </a:rPr>
              <a:t>No external validation</a:t>
            </a:r>
            <a:endParaRPr lang="en-US" sz="1450" dirty="0"/>
          </a:p>
        </p:txBody>
      </p:sp>
      <p:sp>
        <p:nvSpPr>
          <p:cNvPr id="18" name="Text 16"/>
          <p:cNvSpPr/>
          <p:nvPr/>
        </p:nvSpPr>
        <p:spPr>
          <a:xfrm>
            <a:off x="868680" y="5093208"/>
            <a:ext cx="5212080" cy="914400"/>
          </a:xfrm>
          <a:prstGeom prst="rect">
            <a:avLst/>
          </a:prstGeom>
          <a:noFill/>
          <a:ln/>
        </p:spPr>
        <p:txBody>
          <a:bodyPr wrap="square" lIns="0" tIns="0" rIns="0" bIns="0" rtlCol="0" anchor="ctr"/>
          <a:lstStyle/>
          <a:p>
            <a:pPr marL="0" indent="0">
              <a:lnSpc>
                <a:spcPct val="125000"/>
              </a:lnSpc>
              <a:buNone/>
            </a:pPr>
            <a:r>
              <a:rPr lang="en-US" sz="1200" dirty="0">
                <a:solidFill>
                  <a:srgbClr val="44554C"/>
                </a:solidFill>
                <a:latin typeface="Calibri" pitchFamily="34" charset="0"/>
                <a:ea typeface="Calibri" pitchFamily="34" charset="-122"/>
                <a:cs typeface="Calibri" pitchFamily="34" charset="-120"/>
              </a:rPr>
              <a:t>Evaluated on one held-out split, not an independent cohort.</a:t>
            </a:r>
            <a:endParaRPr lang="en-US" sz="1200" dirty="0"/>
          </a:p>
        </p:txBody>
      </p:sp>
      <p:sp>
        <p:nvSpPr>
          <p:cNvPr id="19" name="Shape 17"/>
          <p:cNvSpPr/>
          <p:nvPr/>
        </p:nvSpPr>
        <p:spPr>
          <a:xfrm>
            <a:off x="6355080" y="4846320"/>
            <a:ext cx="146304" cy="146304"/>
          </a:xfrm>
          <a:prstGeom prst="ellipse">
            <a:avLst/>
          </a:prstGeom>
          <a:solidFill>
            <a:srgbClr val="C9972C"/>
          </a:solidFill>
          <a:ln/>
        </p:spPr>
      </p:sp>
      <p:sp>
        <p:nvSpPr>
          <p:cNvPr id="20" name="Text 18"/>
          <p:cNvSpPr/>
          <p:nvPr/>
        </p:nvSpPr>
        <p:spPr>
          <a:xfrm>
            <a:off x="6675120" y="4727448"/>
            <a:ext cx="5212080" cy="365760"/>
          </a:xfrm>
          <a:prstGeom prst="rect">
            <a:avLst/>
          </a:prstGeom>
          <a:noFill/>
          <a:ln/>
        </p:spPr>
        <p:txBody>
          <a:bodyPr wrap="square" lIns="0" tIns="0" rIns="0" bIns="0" rtlCol="0" anchor="ctr"/>
          <a:lstStyle/>
          <a:p>
            <a:pPr marL="0" indent="0">
              <a:buNone/>
            </a:pPr>
            <a:r>
              <a:rPr lang="en-US" sz="1450" b="1" dirty="0">
                <a:solidFill>
                  <a:srgbClr val="0F2A20"/>
                </a:solidFill>
                <a:latin typeface="Cambria" pitchFamily="34" charset="0"/>
                <a:ea typeface="Cambria" pitchFamily="34" charset="-122"/>
                <a:cs typeface="Cambria" pitchFamily="34" charset="-120"/>
              </a:rPr>
              <a:t>Small High-Risk test set</a:t>
            </a:r>
            <a:endParaRPr lang="en-US" sz="1450" dirty="0"/>
          </a:p>
        </p:txBody>
      </p:sp>
      <p:sp>
        <p:nvSpPr>
          <p:cNvPr id="21" name="Text 19"/>
          <p:cNvSpPr/>
          <p:nvPr/>
        </p:nvSpPr>
        <p:spPr>
          <a:xfrm>
            <a:off x="6675120" y="5093208"/>
            <a:ext cx="5212080" cy="914400"/>
          </a:xfrm>
          <a:prstGeom prst="rect">
            <a:avLst/>
          </a:prstGeom>
          <a:noFill/>
          <a:ln/>
        </p:spPr>
        <p:txBody>
          <a:bodyPr wrap="square" lIns="0" tIns="0" rIns="0" bIns="0" rtlCol="0" anchor="ctr"/>
          <a:lstStyle/>
          <a:p>
            <a:pPr marL="0" indent="0">
              <a:lnSpc>
                <a:spcPct val="125000"/>
              </a:lnSpc>
              <a:buNone/>
            </a:pPr>
            <a:r>
              <a:rPr lang="en-US" sz="1200" dirty="0">
                <a:solidFill>
                  <a:srgbClr val="44554C"/>
                </a:solidFill>
                <a:latin typeface="Calibri" pitchFamily="34" charset="0"/>
                <a:ea typeface="Calibri" pitchFamily="34" charset="-122"/>
                <a:cs typeface="Calibri" pitchFamily="34" charset="-120"/>
              </a:rPr>
              <a:t>Only 55 High-Risk cases in the test split — recall estimates carry sampling variability.</a:t>
            </a:r>
            <a:endParaRPr lang="en-US" sz="1200" dirty="0"/>
          </a:p>
        </p:txBody>
      </p:sp>
      <p:sp>
        <p:nvSpPr>
          <p:cNvPr id="22" name="Text 20"/>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8FA79B"/>
                </a:solidFill>
                <a:latin typeface="Calibri" pitchFamily="34" charset="0"/>
                <a:ea typeface="Calibri" pitchFamily="34" charset="-122"/>
                <a:cs typeface="Calibri" pitchFamily="34" charset="-120"/>
              </a:rPr>
              <a:t>Maternal Health Risk Stratification</a:t>
            </a:r>
            <a:endParaRPr lang="en-US" sz="900" dirty="0"/>
          </a:p>
        </p:txBody>
      </p:sp>
      <p:sp>
        <p:nvSpPr>
          <p:cNvPr id="23" name="Text 21"/>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8FA79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3327"/>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754880" cy="4754880"/>
          </a:xfrm>
          <a:prstGeom prst="ellipse">
            <a:avLst/>
          </a:prstGeom>
          <a:solidFill>
            <a:srgbClr val="0F4632"/>
          </a:solidFill>
          <a:ln/>
        </p:spPr>
      </p:sp>
      <p:sp>
        <p:nvSpPr>
          <p:cNvPr id="3" name="Shape 1"/>
          <p:cNvSpPr/>
          <p:nvPr/>
        </p:nvSpPr>
        <p:spPr>
          <a:xfrm>
            <a:off x="-1828800" y="4754880"/>
            <a:ext cx="4206240" cy="4206240"/>
          </a:xfrm>
          <a:prstGeom prst="ellipse">
            <a:avLst/>
          </a:prstGeom>
          <a:solidFill>
            <a:srgbClr val="0F4632"/>
          </a:solidFill>
          <a:ln/>
        </p:spPr>
      </p:sp>
      <p:sp>
        <p:nvSpPr>
          <p:cNvPr id="4" name="Text 2"/>
          <p:cNvSpPr txBox="1"/>
          <p:nvPr/>
        </p:nvSpPr>
        <p:spPr>
          <a:xfrm>
            <a:off x="548640" y="640080"/>
            <a:ext cx="7315200" cy="320040"/>
          </a:xfrm>
          <a:prstGeom prst="rect">
            <a:avLst/>
          </a:prstGeom>
          <a:noFill/>
          <a:ln/>
        </p:spPr>
        <p:txBody>
          <a:bodyPr wrap="square" lIns="0" tIns="0" rIns="0" bIns="0" rtlCol="0" anchor="ctr"/>
          <a:lstStyle/>
          <a:p>
            <a:pPr marL="0" indent="0">
              <a:buNone/>
            </a:pPr>
            <a:r>
              <a:rPr lang="en-US" sz="1250" b="1" kern="0" spc="200" dirty="0">
                <a:solidFill>
                  <a:srgbClr val="C9972C"/>
                </a:solidFill>
                <a:latin typeface="Calibri" pitchFamily="34" charset="0"/>
                <a:ea typeface="Calibri" pitchFamily="34" charset="-122"/>
                <a:cs typeface="Calibri" pitchFamily="34" charset="-120"/>
              </a:rPr>
              <a:t>CONCLUSION</a:t>
            </a:r>
            <a:endParaRPr lang="en-US" sz="1250" dirty="0"/>
          </a:p>
        </p:txBody>
      </p:sp>
      <p:sp>
        <p:nvSpPr>
          <p:cNvPr id="5" name="Text 3"/>
          <p:cNvSpPr/>
          <p:nvPr/>
        </p:nvSpPr>
        <p:spPr>
          <a:xfrm>
            <a:off x="548640" y="1051560"/>
            <a:ext cx="9601200" cy="137160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Cambria" pitchFamily="34" charset="0"/>
                <a:ea typeface="Cambria" pitchFamily="34" charset="-122"/>
                <a:cs typeface="Cambria" pitchFamily="34" charset="-120"/>
              </a:rPr>
              <a:t>A Transparent Baseline, Not a</a:t>
            </a:r>
            <a:endParaRPr lang="en-US" sz="3000" dirty="0"/>
          </a:p>
          <a:p>
            <a:pPr marL="0" indent="0">
              <a:lnSpc>
                <a:spcPct val="105000"/>
              </a:lnSpc>
              <a:buNone/>
            </a:pPr>
            <a:r>
              <a:rPr lang="en-US" sz="3000" b="1" dirty="0">
                <a:solidFill>
                  <a:srgbClr val="FFFFFF"/>
                </a:solidFill>
                <a:latin typeface="Cambria" pitchFamily="34" charset="0"/>
                <a:ea typeface="Cambria" pitchFamily="34" charset="-122"/>
                <a:cs typeface="Cambria" pitchFamily="34" charset="-120"/>
              </a:rPr>
              <a:t>Clinical Decision Tool</a:t>
            </a:r>
            <a:endParaRPr lang="en-US" sz="3000" dirty="0"/>
          </a:p>
        </p:txBody>
      </p:sp>
      <p:sp>
        <p:nvSpPr>
          <p:cNvPr id="6" name="Text 4"/>
          <p:cNvSpPr/>
          <p:nvPr/>
        </p:nvSpPr>
        <p:spPr>
          <a:xfrm>
            <a:off x="548640" y="2468880"/>
            <a:ext cx="6492240" cy="2377440"/>
          </a:xfrm>
          <a:prstGeom prst="rect">
            <a:avLst/>
          </a:prstGeom>
          <a:noFill/>
          <a:ln/>
        </p:spPr>
        <p:txBody>
          <a:bodyPr wrap="square" lIns="0" tIns="0" rIns="0" bIns="0" rtlCol="0" anchor="ctr"/>
          <a:lstStyle/>
          <a:p>
            <a:pPr marL="0" indent="0">
              <a:lnSpc>
                <a:spcPct val="135000"/>
              </a:lnSpc>
              <a:buNone/>
            </a:pPr>
            <a:r>
              <a:rPr lang="en-US" sz="1350" dirty="0">
                <a:solidFill>
                  <a:srgbClr val="D1FAE5"/>
                </a:solidFill>
                <a:latin typeface="Calibri" pitchFamily="34" charset="0"/>
                <a:ea typeface="Calibri" pitchFamily="34" charset="-122"/>
                <a:cs typeface="Calibri" pitchFamily="34" charset="-120"/>
              </a:rPr>
              <a:t>Blood Sugar and blood pressure emerged as the dominant, consistent drivers across statistics, SQL, and machine learning alike. The shallow Decision Tree reached 0.836 High-Risk Recall and 0.920 High-Risk Precision — a strong screening pattern for an interpretable baseline. Future work should add clinically validated outcomes, larger and more diverse cohorts, cost-sensitive evaluation, and external validation before any real-world use.</a:t>
            </a:r>
            <a:endParaRPr lang="en-US" sz="1350" dirty="0"/>
          </a:p>
        </p:txBody>
      </p:sp>
      <p:sp>
        <p:nvSpPr>
          <p:cNvPr id="7" name="Shape 5"/>
          <p:cNvSpPr/>
          <p:nvPr/>
        </p:nvSpPr>
        <p:spPr>
          <a:xfrm>
            <a:off x="7360920" y="2514600"/>
            <a:ext cx="4251960" cy="3383280"/>
          </a:xfrm>
          <a:prstGeom prst="rect">
            <a:avLst/>
          </a:prstGeom>
          <a:solidFill>
            <a:srgbClr val="0F4632"/>
          </a:solidFill>
          <a:ln/>
        </p:spPr>
      </p:sp>
      <p:sp>
        <p:nvSpPr>
          <p:cNvPr id="8" name="Text 6"/>
          <p:cNvSpPr/>
          <p:nvPr/>
        </p:nvSpPr>
        <p:spPr>
          <a:xfrm>
            <a:off x="7680960" y="2743200"/>
            <a:ext cx="3657600" cy="365760"/>
          </a:xfrm>
          <a:prstGeom prst="rect">
            <a:avLst/>
          </a:prstGeom>
          <a:noFill/>
          <a:ln/>
        </p:spPr>
        <p:txBody>
          <a:bodyPr wrap="square" lIns="0" tIns="0" rIns="0" bIns="0" rtlCol="0" anchor="ctr"/>
          <a:lstStyle/>
          <a:p>
            <a:pPr marL="0" indent="0">
              <a:buNone/>
            </a:pPr>
            <a:r>
              <a:rPr lang="en-US" sz="1250" b="1" kern="0" spc="300" dirty="0">
                <a:solidFill>
                  <a:srgbClr val="C9972C"/>
                </a:solidFill>
                <a:latin typeface="Calibri" pitchFamily="34" charset="0"/>
                <a:ea typeface="Calibri" pitchFamily="34" charset="-122"/>
                <a:cs typeface="Calibri" pitchFamily="34" charset="-120"/>
              </a:rPr>
              <a:t>THANK YOU</a:t>
            </a:r>
            <a:endParaRPr lang="en-US" sz="1250" dirty="0"/>
          </a:p>
        </p:txBody>
      </p:sp>
      <p:sp>
        <p:nvSpPr>
          <p:cNvPr id="9" name="Text 7"/>
          <p:cNvSpPr/>
          <p:nvPr/>
        </p:nvSpPr>
        <p:spPr>
          <a:xfrm>
            <a:off x="7680960" y="3200400"/>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Mahdiyeh Mirzaei</a:t>
            </a:r>
            <a:endParaRPr lang="en-US" sz="2000" dirty="0"/>
          </a:p>
        </p:txBody>
      </p:sp>
      <p:sp>
        <p:nvSpPr>
          <p:cNvPr id="10" name="Text 8"/>
          <p:cNvSpPr/>
          <p:nvPr/>
        </p:nvSpPr>
        <p:spPr>
          <a:xfrm>
            <a:off x="7680960" y="3657600"/>
            <a:ext cx="3657600" cy="320040"/>
          </a:xfrm>
          <a:prstGeom prst="rect">
            <a:avLst/>
          </a:prstGeom>
          <a:noFill/>
          <a:ln/>
        </p:spPr>
        <p:txBody>
          <a:bodyPr wrap="square" lIns="0" tIns="0" rIns="0" bIns="0" rtlCol="0" anchor="ctr"/>
          <a:lstStyle/>
          <a:p>
            <a:pPr marL="0" indent="0">
              <a:buNone/>
            </a:pPr>
            <a:r>
              <a:rPr lang="en-US" sz="1300" dirty="0">
                <a:solidFill>
                  <a:srgbClr val="10B981"/>
                </a:solidFill>
                <a:latin typeface="Calibri" pitchFamily="34" charset="0"/>
                <a:ea typeface="Calibri" pitchFamily="34" charset="-122"/>
                <a:cs typeface="Calibri" pitchFamily="34" charset="-120"/>
              </a:rPr>
              <a:t>github.com/mahdiyeh-mirzaei-v2</a:t>
            </a:r>
            <a:endParaRPr lang="en-US" sz="1300" dirty="0"/>
          </a:p>
        </p:txBody>
      </p:sp>
      <p:sp>
        <p:nvSpPr>
          <p:cNvPr id="11" name="Shape 9"/>
          <p:cNvSpPr/>
          <p:nvPr/>
        </p:nvSpPr>
        <p:spPr>
          <a:xfrm>
            <a:off x="7680960" y="4160520"/>
            <a:ext cx="3566160" cy="0"/>
          </a:xfrm>
          <a:prstGeom prst="line">
            <a:avLst/>
          </a:prstGeom>
          <a:noFill/>
          <a:ln w="12700">
            <a:solidFill>
              <a:srgbClr val="1E5C46"/>
            </a:solidFill>
            <a:prstDash val="solid"/>
          </a:ln>
        </p:spPr>
      </p:sp>
      <p:sp>
        <p:nvSpPr>
          <p:cNvPr id="12" name="Text 10"/>
          <p:cNvSpPr/>
          <p:nvPr/>
        </p:nvSpPr>
        <p:spPr>
          <a:xfrm>
            <a:off x="7680960" y="4343400"/>
            <a:ext cx="3566160" cy="1371600"/>
          </a:xfrm>
          <a:prstGeom prst="rect">
            <a:avLst/>
          </a:prstGeom>
          <a:noFill/>
          <a:ln/>
        </p:spPr>
        <p:txBody>
          <a:bodyPr wrap="square" lIns="0" tIns="0" rIns="0" bIns="0" rtlCol="0" anchor="ctr"/>
          <a:lstStyle/>
          <a:p>
            <a:pPr marL="0" indent="0">
              <a:lnSpc>
                <a:spcPct val="130000"/>
              </a:lnSpc>
              <a:buNone/>
            </a:pPr>
            <a:r>
              <a:rPr lang="en-US" sz="1100" i="1" dirty="0">
                <a:solidFill>
                  <a:srgbClr val="9FC2B2"/>
                </a:solidFill>
                <a:latin typeface="Calibri" pitchFamily="34" charset="0"/>
                <a:ea typeface="Calibri" pitchFamily="34" charset="-122"/>
                <a:cs typeface="Calibri" pitchFamily="34" charset="-120"/>
              </a:rPr>
              <a:t>Educational research project — results are not intended for clinical diagnosis or decision-making.</a:t>
            </a:r>
            <a:endParaRPr lang="en-US" sz="1100" dirty="0"/>
          </a:p>
        </p:txBody>
      </p:sp>
      <p:sp>
        <p:nvSpPr>
          <p:cNvPr id="13" name="Text 11"/>
          <p:cNvSpPr/>
          <p:nvPr/>
        </p:nvSpPr>
        <p:spPr>
          <a:xfrm>
            <a:off x="457200" y="6547104"/>
            <a:ext cx="6400800" cy="274320"/>
          </a:xfrm>
          <a:prstGeom prst="rect">
            <a:avLst/>
          </a:prstGeom>
          <a:noFill/>
          <a:ln/>
        </p:spPr>
        <p:txBody>
          <a:bodyPr wrap="square" lIns="0" tIns="0" rIns="0" bIns="0" rtlCol="0" anchor="ctr"/>
          <a:lstStyle/>
          <a:p>
            <a:pPr marL="0" indent="0" algn="l">
              <a:buNone/>
            </a:pPr>
            <a:r>
              <a:rPr lang="en-US" sz="900" dirty="0">
                <a:solidFill>
                  <a:srgbClr val="BFEAD8"/>
                </a:solidFill>
                <a:latin typeface="Calibri" pitchFamily="34" charset="0"/>
                <a:ea typeface="Calibri" pitchFamily="34" charset="-122"/>
                <a:cs typeface="Calibri" pitchFamily="34" charset="-120"/>
              </a:rPr>
              <a:t>Maternal Health Risk Stratification</a:t>
            </a:r>
            <a:endParaRPr lang="en-US" sz="900" dirty="0"/>
          </a:p>
        </p:txBody>
      </p:sp>
      <p:sp>
        <p:nvSpPr>
          <p:cNvPr id="14" name="Text 12"/>
          <p:cNvSpPr/>
          <p:nvPr/>
        </p:nvSpPr>
        <p:spPr>
          <a:xfrm>
            <a:off x="11277295" y="6547104"/>
            <a:ext cx="457200" cy="274320"/>
          </a:xfrm>
          <a:prstGeom prst="rect">
            <a:avLst/>
          </a:prstGeom>
          <a:noFill/>
          <a:ln/>
        </p:spPr>
        <p:txBody>
          <a:bodyPr wrap="square" lIns="0" tIns="0" rIns="0" bIns="0" rtlCol="0" anchor="ctr"/>
          <a:lstStyle/>
          <a:p>
            <a:pPr marL="0" indent="0" algn="r">
              <a:buNone/>
            </a:pPr>
            <a:r>
              <a:rPr lang="en-US" sz="900" dirty="0">
                <a:solidFill>
                  <a:srgbClr val="BFEAD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2005</Words>
  <Application>Microsoft Office PowerPoint</Application>
  <PresentationFormat>Widescreen</PresentationFormat>
  <Paragraphs>353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2026-09-05T19:01:12Z</dcterms:created>
  <dcterms:modified xsi:type="dcterms:W3CDTF">2026-09-06T02:50:49Z</dcterms:modified>
</cp:coreProperties>
</file>